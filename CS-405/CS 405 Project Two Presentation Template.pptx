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tags/tag11.xml" ContentType="application/vnd.openxmlformats-officedocument.presentationml.tags+xml"/>
  <Override PartName="/ppt/notesSlides/notesSlide16.xml" ContentType="application/vnd.openxmlformats-officedocument.presentationml.notesSlide+xml"/>
  <Override PartName="/ppt/tags/tag12.xml" ContentType="application/vnd.openxmlformats-officedocument.presentationml.tags+xml"/>
  <Override PartName="/ppt/notesSlides/notesSlide17.xml" ContentType="application/vnd.openxmlformats-officedocument.presentationml.notesSlide+xml"/>
  <Override PartName="/ppt/tags/tag13.xml" ContentType="application/vnd.openxmlformats-officedocument.presentationml.tags+xml"/>
  <Override PartName="/ppt/notesSlides/notesSlide18.xml" ContentType="application/vnd.openxmlformats-officedocument.presentationml.notesSlide+xml"/>
  <Override PartName="/ppt/tags/tag14.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5"/>
  </p:notesMasterIdLst>
  <p:sldIdLst>
    <p:sldId id="256" r:id="rId5"/>
    <p:sldId id="257" r:id="rId6"/>
    <p:sldId id="258" r:id="rId7"/>
    <p:sldId id="259" r:id="rId8"/>
    <p:sldId id="260" r:id="rId9"/>
    <p:sldId id="261" r:id="rId10"/>
    <p:sldId id="262" r:id="rId11"/>
    <p:sldId id="276" r:id="rId12"/>
    <p:sldId id="263" r:id="rId13"/>
    <p:sldId id="271" r:id="rId14"/>
    <p:sldId id="272" r:id="rId15"/>
    <p:sldId id="273" r:id="rId16"/>
    <p:sldId id="274" r:id="rId17"/>
    <p:sldId id="275" r:id="rId18"/>
    <p:sldId id="264" r:id="rId19"/>
    <p:sldId id="265" r:id="rId20"/>
    <p:sldId id="266" r:id="rId21"/>
    <p:sldId id="267" r:id="rId22"/>
    <p:sldId id="268" r:id="rId23"/>
    <p:sldId id="270" r:id="rId24"/>
  </p:sldIdLst>
  <p:sldSz cx="12192000" cy="6858000"/>
  <p:notesSz cx="6858000" cy="9144000"/>
  <p:embeddedFontLst>
    <p:embeddedFont>
      <p:font typeface="Century Gothic" panose="020B0502020202020204" pitchFamily="34" charset="0"/>
      <p:regular r:id="rId26"/>
      <p:bold r:id="rId27"/>
      <p:italic r:id="rId28"/>
      <p:boldItalic r:id="rId29"/>
    </p:embeddedFont>
  </p:embeddedFontLst>
  <p:custDataLst>
    <p:tags r:id="rId3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55"/>
    <p:restoredTop sz="59184"/>
  </p:normalViewPr>
  <p:slideViewPr>
    <p:cSldViewPr snapToGrid="0">
      <p:cViewPr varScale="1">
        <p:scale>
          <a:sx n="73" d="100"/>
          <a:sy n="73" d="100"/>
        </p:scale>
        <p:origin x="299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Good afternoon. Today I'm presenting Green Pace's new Security Policy, which establishes comprehensive coding standards and security practices for our development team. My name is Nate Riggs, and I'll walk you through how we're transitioning from DevOps to </a:t>
            </a:r>
            <a:r>
              <a:rPr lang="en-US" dirty="0" err="1"/>
              <a:t>DevSecOps</a:t>
            </a:r>
            <a:r>
              <a:rPr lang="en-US" dirty="0"/>
              <a:t> to build security into every phase of our development lifecycle.</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This security policy is needed for several key reasons. First, as Green Pace grows, we need to standardize the implicit security practices our team already follows. Second, we're transitioning from DevOps to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to embed stronger security throughout our pipeline. Third, we need to prepare for security audits and ensure compliance as we serve environmentally responsible clients worldwide.</a:t>
            </a:r>
          </a:p>
          <a:p>
            <a:pPr marL="158750" indent="0">
              <a:buNone/>
            </a:pPr>
            <a:endParaRPr lang="en-US" sz="1100" b="0" i="0" u="none" strike="noStrike" cap="none" dirty="0">
              <a:solidFill>
                <a:srgbClr val="000000"/>
              </a:solidFill>
              <a:effectLst/>
              <a:latin typeface="Arial"/>
              <a:ea typeface="Arial"/>
              <a:cs typeface="Arial"/>
              <a:sym typeface="Arial"/>
            </a:endParaRPr>
          </a:p>
          <a:p>
            <a:pPr marL="158750" indent="0">
              <a:buNone/>
            </a:pPr>
            <a:r>
              <a:rPr lang="en-US" sz="1100" b="0" i="0" u="none" strike="noStrike" cap="none" dirty="0">
                <a:solidFill>
                  <a:srgbClr val="000000"/>
                </a:solidFill>
                <a:effectLst/>
                <a:latin typeface="Arial"/>
                <a:ea typeface="Arial"/>
                <a:cs typeface="Arial"/>
                <a:sym typeface="Arial"/>
              </a:rPr>
              <a:t>This policy supports defense-in-depth by creating multiple layers of security protection. It integrates 10 coding standards, encryption policies, and the Triple-A framework. Security is automated throughout our development pipeline, so if one layer fails, others continue protecting the system.</a:t>
            </a: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This threats matrix categorizes our 10 coding standards by likelihood and priority. The standards are prioritized by three factors: severity, which measures potential damage; likelihood, which measures probability of occurrence; and remediation cost, which measures difficulty to fix. The top-left quadrant shows our highest-risk vulnerabilities requiring immediate attention—SQL injection and input validation pose the greatest threats to Green Pace systems.</a:t>
            </a:r>
          </a:p>
          <a:p>
            <a:pPr marL="158750" indent="0">
              <a:buNone/>
            </a:pPr>
            <a:endParaRPr lang="en-US" sz="1100" b="0" i="0" u="none" strike="noStrike" cap="none" dirty="0">
              <a:solidFill>
                <a:srgbClr val="000000"/>
              </a:solidFill>
              <a:effectLst/>
              <a:latin typeface="Arial"/>
              <a:ea typeface="Arial"/>
              <a:cs typeface="Arial"/>
              <a:sym typeface="Arial"/>
            </a:endParaRPr>
          </a:p>
          <a:p>
            <a:pPr marL="158750" indent="0">
              <a:buNone/>
            </a:pPr>
            <a:r>
              <a:rPr lang="en-US" sz="1100" b="0" i="0" u="none" strike="noStrike" cap="none" dirty="0">
                <a:solidFill>
                  <a:srgbClr val="000000"/>
                </a:solidFill>
                <a:effectLst/>
                <a:latin typeface="Arial"/>
                <a:ea typeface="Arial"/>
                <a:cs typeface="Arial"/>
                <a:sym typeface="Arial"/>
              </a:rPr>
              <a:t>We've integrated automated detection tools including Clang Static Analyzer, </a:t>
            </a:r>
            <a:r>
              <a:rPr lang="en-US" sz="1100" b="0" i="0" u="none" strike="noStrike" cap="none" dirty="0" err="1">
                <a:solidFill>
                  <a:srgbClr val="000000"/>
                </a:solidFill>
                <a:effectLst/>
                <a:latin typeface="Arial"/>
                <a:ea typeface="Arial"/>
                <a:cs typeface="Arial"/>
                <a:sym typeface="Arial"/>
              </a:rPr>
              <a:t>Cppcheck</a:t>
            </a:r>
            <a:r>
              <a:rPr lang="en-US" sz="1100" b="0" i="0" u="none" strike="noStrike" cap="none" dirty="0">
                <a:solidFill>
                  <a:srgbClr val="000000"/>
                </a:solidFill>
                <a:effectLst/>
                <a:latin typeface="Arial"/>
                <a:ea typeface="Arial"/>
                <a:cs typeface="Arial"/>
                <a:sym typeface="Arial"/>
              </a:rPr>
              <a:t>, SonarQube, and Coverity. These tools scan every pull request automatically, and high-severity violations block code merges, catching vulnerabilities before they reach production.</a:t>
            </a: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Our security policy is built on 10 core security principles that guide all development work. Each principle maps to specific coding standards, showing how theory translates into practice. For example, the principle 'Validate Input Data' is implemented through six different standards including data value validation, string operations, SQL injection prevention, and input validation. Similarly, 'Practice Defense in Depth' appears in six standards, ensuring we have multiple layers of protection. Some principles like 'Heed Compiler Warnings' and 'Adopt a Secure Coding Standard' apply to all ten standards, creating a foundation that supports everything we build.</a:t>
            </a: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Here are our 10 coding standards ranked in priority order. At the top, Level 4 standards address SQL injection   prevention and input validation—these are critical because they're high severity, highly likely, and can be exploited remotely. Level 3 standards include data value validation, safe string operations, memory management, and integer overflow prevention. Level 2 standards cover appropriate data types, assertions, exception handling, and null pointer dereferences.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Our prioritization system ranks standards by three equally-weighted factors: severity, likelihood, and remediation cost. Higher-ranked standards pose greater risk to Green Pace systems and our clients' data.</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Our encryption policies cover three types of data protection. Encryption at rest protects stored data on hard drives, databases, backups, and cloud storage using AES-256 or stronger, with keys managed separately from encrypted data. This ensures that stolen or improperly disposed storage media remains unreadable.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Encryption in flight protects data traveling across networks using TLS 1.2 or higher, SSH, or VPNs. This applies to all server traffic, client communications, API calls, and database connections, preventing man-in-the-middle attacks.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Encryption in use protects data during active processing in memory or CPU using secure enclaves or trusted execution environments. This applies to payment processing, key operations, and credential verification, protecting against memory dumps and side-channel attacks.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The Triple-A framework establishes our authentication, authorization, and accounting policies. Authentication verifies identity using multi-factor authentication for all accounts accessing development systems, production environments, and administrative interfaces. Users must provide at least two factors: something they know, something they possess, or something they are.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Authorization determines what authenticated users can do through role-based access control and the principle of least privilege. Users receive only the minimum permissions necessary, with elevated privileges granted temporarily and logged.</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Accounting tracks and logs all security-relevant activities including user logins, database changes, account modifications, permission changes, and file access. Logs must be tamper-proof and monitored for suspicious patterns, creating an audit trail for forensic investigation.</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Now I'll demonstrate how we use unit testing to validate our security standards through automated vulnerability detection.</a:t>
            </a:r>
          </a:p>
        </p:txBody>
      </p:sp>
    </p:spTree>
    <p:extLst>
      <p:ext uri="{BB962C8B-B14F-4D97-AF65-F5344CB8AC3E}">
        <p14:creationId xmlns:p14="http://schemas.microsoft.com/office/powerpoint/2010/main" val="2856419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This test validates STD-003, our buffer overflow prevention standard. The positive test confirms that valid input like 'John' is accepted into a 10-byte buffer. The negative test confirms that oversized input, 28 characters in this case, is rejected and throws an exception before the buffer overflow can occur. This prevents attackers from exploiting buffer overflows to execute arbitrary code. As you can see, the test passed successfully.</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This test validates STD-008, our input validation standard. The positive tests confirm legitimate filenames like '</a:t>
            </a:r>
            <a:r>
              <a:rPr lang="en-US" dirty="0" err="1"/>
              <a:t>document.txt</a:t>
            </a:r>
            <a:r>
              <a:rPr lang="en-US" dirty="0"/>
              <a:t>' and '</a:t>
            </a:r>
            <a:r>
              <a:rPr lang="en-US" dirty="0" err="1"/>
              <a:t>report.pdf</a:t>
            </a:r>
            <a:r>
              <a:rPr lang="en-US" dirty="0"/>
              <a:t>' are accepted. The negative tests confirm that path traversal attempts like '../../../</a:t>
            </a:r>
            <a:r>
              <a:rPr lang="en-US" dirty="0" err="1"/>
              <a:t>etc</a:t>
            </a:r>
            <a:r>
              <a:rPr lang="en-US" dirty="0"/>
              <a:t>/passwd', absolute paths, and empty strings are all blocked. This prevents directory traversal attacks where attackers try to access files outside the intended directory. The test passed, confirming our validation logic works correctly.</a:t>
            </a:r>
          </a:p>
        </p:txBody>
      </p:sp>
    </p:spTree>
    <p:extLst>
      <p:ext uri="{BB962C8B-B14F-4D97-AF65-F5344CB8AC3E}">
        <p14:creationId xmlns:p14="http://schemas.microsoft.com/office/powerpoint/2010/main" val="2975166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test validates STD-009, our integer overflow prevention standard. The positive tests show normal calculations work correctly—5 times 10 equals 50. The negative tests confirm that large multiplications that would cause overflow, like 50,000 times 50,000 or INT_MAX times 2, are detected and throw exceptions before producing incorrect results. This is critical for financial calculations and resource allocation. The test passed successfully.</a:t>
            </a:r>
          </a:p>
        </p:txBody>
      </p:sp>
    </p:spTree>
    <p:extLst>
      <p:ext uri="{BB962C8B-B14F-4D97-AF65-F5344CB8AC3E}">
        <p14:creationId xmlns:p14="http://schemas.microsoft.com/office/powerpoint/2010/main" val="3990122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test validates STD-010, our null pointer prevention standard. The positive test shows that valid pointers are successfully accessed and return the expected value of 42. The negative test confirms that null pointers are detected and an exception is thrown before dereferencing can occur. This prevents crashes and potential security exploits from null pointer dereferences. The test passed, showing all pointers are validated before use.</a:t>
            </a:r>
          </a:p>
        </p:txBody>
      </p:sp>
    </p:spTree>
    <p:extLst>
      <p:ext uri="{BB962C8B-B14F-4D97-AF65-F5344CB8AC3E}">
        <p14:creationId xmlns:p14="http://schemas.microsoft.com/office/powerpoint/2010/main" val="97821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test validates STD-002, our range validation standard. The positive tests show that valid array indices—0, 2, and 4—work correctly and return the expected values. The negative tests confirm that out-of-bounds indices like 10 and 5 throw exceptions before memory corruption can occur. This ensures data access stays within safe boundaries. The test passed successfully.</a:t>
            </a:r>
          </a:p>
        </p:txBody>
      </p:sp>
    </p:spTree>
    <p:extLst>
      <p:ext uri="{BB962C8B-B14F-4D97-AF65-F5344CB8AC3E}">
        <p14:creationId xmlns:p14="http://schemas.microsoft.com/office/powerpoint/2010/main" val="1411320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integration test demonstrates multiple security standards working together. It validates filename input using STD-008, performs safe integer calculations using STD-009, and checks pointers using STD-010—all in one test scenario. This demonstrates our defense-in-depth strategy where multiple security layers work together. If one control fails, others continue protecting the system. The test passed, showing all standards function together seamlessly.</a:t>
            </a:r>
          </a:p>
        </p:txBody>
      </p:sp>
    </p:spTree>
    <p:extLst>
      <p:ext uri="{BB962C8B-B14F-4D97-AF65-F5344CB8AC3E}">
        <p14:creationId xmlns:p14="http://schemas.microsoft.com/office/powerpoint/2010/main" val="3374700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The </a:t>
            </a:r>
            <a:r>
              <a:rPr lang="en-US" dirty="0" err="1"/>
              <a:t>DevSecOps</a:t>
            </a:r>
            <a:r>
              <a:rPr lang="en-US" dirty="0"/>
              <a:t> model operates as a continuous figure-eight cycle where security is integrated at every stage rather than added at the end. This embeds security automation throughout the entire development lifecycle, creating multiple checkpoints to catch vulnerabilities early. The cycle flows through eight phases: Assess and Plan, Design, Build, Verify and Test, Transition and Health Check, Monitor and Detect, Respond, and Maintain and Stabilize, which feeds back to planning for continuous improvement.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Security tools are placed strategically throughout the pipeline. In the Build phase, static analysis tools like SonarQube, Clang, Coverity, and </a:t>
            </a:r>
            <a:r>
              <a:rPr lang="en-US" sz="1100" b="0" i="0" u="none" strike="noStrike" cap="none" dirty="0" err="1">
                <a:solidFill>
                  <a:srgbClr val="000000"/>
                </a:solidFill>
                <a:effectLst/>
                <a:latin typeface="Arial"/>
                <a:ea typeface="Arial"/>
                <a:cs typeface="Arial"/>
                <a:sym typeface="Arial"/>
              </a:rPr>
              <a:t>Cppcheck</a:t>
            </a:r>
            <a:r>
              <a:rPr lang="en-US" sz="1100" b="0" i="0" u="none" strike="noStrike" cap="none" dirty="0">
                <a:solidFill>
                  <a:srgbClr val="000000"/>
                </a:solidFill>
                <a:effectLst/>
                <a:latin typeface="Arial"/>
                <a:ea typeface="Arial"/>
                <a:cs typeface="Arial"/>
                <a:sym typeface="Arial"/>
              </a:rPr>
              <a:t> scan every pull request and block merges for violations. In Verify and Test, runtime analyzers like </a:t>
            </a:r>
            <a:r>
              <a:rPr lang="en-US" sz="1100" b="0" i="0" u="none" strike="noStrike" cap="none" dirty="0" err="1">
                <a:solidFill>
                  <a:srgbClr val="000000"/>
                </a:solidFill>
                <a:effectLst/>
                <a:latin typeface="Arial"/>
                <a:ea typeface="Arial"/>
                <a:cs typeface="Arial"/>
                <a:sym typeface="Arial"/>
              </a:rPr>
              <a:t>AddressSanitizer</a:t>
            </a:r>
            <a:r>
              <a:rPr lang="en-US" sz="1100" b="0" i="0" u="none" strike="noStrike" cap="none" dirty="0">
                <a:solidFill>
                  <a:srgbClr val="000000"/>
                </a:solidFill>
                <a:effectLst/>
                <a:latin typeface="Arial"/>
                <a:ea typeface="Arial"/>
                <a:cs typeface="Arial"/>
                <a:sym typeface="Arial"/>
              </a:rPr>
              <a:t> and </a:t>
            </a:r>
            <a:r>
              <a:rPr lang="en-US" sz="1100" b="0" i="0" u="none" strike="noStrike" cap="none" dirty="0" err="1">
                <a:solidFill>
                  <a:srgbClr val="000000"/>
                </a:solidFill>
                <a:effectLst/>
                <a:latin typeface="Arial"/>
                <a:ea typeface="Arial"/>
                <a:cs typeface="Arial"/>
                <a:sym typeface="Arial"/>
              </a:rPr>
              <a:t>Valgrind</a:t>
            </a:r>
            <a:r>
              <a:rPr lang="en-US" sz="1100" b="0" i="0" u="none" strike="noStrike" cap="none" dirty="0">
                <a:solidFill>
                  <a:srgbClr val="000000"/>
                </a:solidFill>
                <a:effectLst/>
                <a:latin typeface="Arial"/>
                <a:ea typeface="Arial"/>
                <a:cs typeface="Arial"/>
                <a:sym typeface="Arial"/>
              </a:rPr>
              <a:t> detect memory issues during execution. In the Transition phase, final security scans and code signing verify compliance before deployment. In Monitor and Detect, RASP and WAF detect exploitation attempts in production. In Maintain and Stabilize, automated dashboards track compliance metrics and security debt, informing the next planning cycle.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We're addressing several critical problems: legacy code contains undetected vulnerabilities, we lack automated security enforcement before deployment, security testing occurs too late, and coding practices are inconsistent across the team.</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Our solutions include implementing 10 coding standards with automated enforcement, integrating the </a:t>
            </a:r>
            <a:r>
              <a:rPr lang="en-US" dirty="0" err="1"/>
              <a:t>DevSecOps</a:t>
            </a:r>
            <a:r>
              <a:rPr lang="en-US" dirty="0"/>
              <a:t> model, establishing the Triple-A framework and encryption policies, and requiring MFA and comprehensive logging.</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The benefits of acting now are clear: we catch vulnerabilities when they're cheapest to fix, build security culture before bad habits form, scale automated tools with team growth, and protect client data while meeting compliance requirements.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The risks of waiting are equally significant: vulnerabilities compound as our codebase grows, potential breaches could damage our reputation, security debt becomes harder to pay down, and competitors with stronger security will win environmentally-conscious clients.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Despite this comprehensive policy, we've identified gaps that still need to be addressed. First, we lack a formal incident response plan with documented procedures for containment, investigation, and recovery. Second, we're missing third-party risk management policies for vetting libraries and tracking vulnerabilities in external components. Third, we lack mandatory security training for developers and ongoing education about emerging threats. Finally, we haven't established a penetration testing schedule to validate that our standards actually prevent exploits in practice.</a:t>
            </a: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Looking to the future, we should adopt several additional standards. We should integrate the OWASP Top 10, aligning our standards with evolving vulnerabilities. We should adopt supply chain security including the SLSA framework and software bill of materials. We need container and cloud security standards for secure configurations and secrets management. Finally, we should establish API security standards with authentication, rate limiting, and input validation. These future standards will keep Green Pace ahead of emerging threats as our technology stack evolves.</a:t>
            </a: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883369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4.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4a"/><Relationship Id="rId7" Type="http://schemas.openxmlformats.org/officeDocument/2006/relationships/image" Target="../media/image3.pn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4.png"/><Relationship Id="rId2" Type="http://schemas.microsoft.com/office/2007/relationships/media" Target="../media/media3.m4a"/><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7" Type="http://schemas.openxmlformats.org/officeDocument/2006/relationships/image" Target="../media/image4.png"/><Relationship Id="rId2" Type="http://schemas.microsoft.com/office/2007/relationships/media" Target="../media/media4.m4a"/><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4.png"/><Relationship Id="rId2" Type="http://schemas.microsoft.com/office/2007/relationships/media" Target="../media/media5.m4a"/><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4.png"/><Relationship Id="rId2" Type="http://schemas.microsoft.com/office/2007/relationships/media" Target="../media/media6.m4a"/><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4.png"/><Relationship Id="rId2" Type="http://schemas.microsoft.com/office/2007/relationships/media" Target="../media/media7.m4a"/><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audio" Target="../media/media9.m4a"/><Relationship Id="rId7" Type="http://schemas.openxmlformats.org/officeDocument/2006/relationships/image" Target="../media/image6.PNG"/><Relationship Id="rId2" Type="http://schemas.microsoft.com/office/2007/relationships/media" Target="../media/media9.m4a"/><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notesSlide" Target="../notesSlides/notesSlide9.xml"/><Relationship Id="rId4" Type="http://schemas.openxmlformats.org/officeDocument/2006/relationships/slideLayout" Target="../slideLayouts/slideLayout2.xml"/><Relationship Id="rId9"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5.m4a"/><Relationship Id="rId7" Type="http://schemas.openxmlformats.org/officeDocument/2006/relationships/image" Target="../media/image3.png"/><Relationship Id="rId2" Type="http://schemas.microsoft.com/office/2007/relationships/media" Target="../media/media15.m4a"/><Relationship Id="rId1" Type="http://schemas.openxmlformats.org/officeDocument/2006/relationships/tags" Target="../tags/tag10.xml"/><Relationship Id="rId6" Type="http://schemas.openxmlformats.org/officeDocument/2006/relationships/image" Target="../media/image18.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media16.m4a"/><Relationship Id="rId7" Type="http://schemas.openxmlformats.org/officeDocument/2006/relationships/image" Target="../media/image4.png"/><Relationship Id="rId2" Type="http://schemas.microsoft.com/office/2007/relationships/media" Target="../media/media16.m4a"/><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audio" Target="../media/media17.m4a"/><Relationship Id="rId7" Type="http://schemas.openxmlformats.org/officeDocument/2006/relationships/image" Target="../media/image4.png"/><Relationship Id="rId2" Type="http://schemas.microsoft.com/office/2007/relationships/media" Target="../media/media17.m4a"/><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audio" Target="../media/media18.m4a"/><Relationship Id="rId7" Type="http://schemas.openxmlformats.org/officeDocument/2006/relationships/image" Target="../media/image4.png"/><Relationship Id="rId2" Type="http://schemas.microsoft.com/office/2007/relationships/media" Target="../media/media18.m4a"/><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audio" Target="../media/media19.m4a"/><Relationship Id="rId7" Type="http://schemas.openxmlformats.org/officeDocument/2006/relationships/image" Target="../media/image4.png"/><Relationship Id="rId2" Type="http://schemas.microsoft.com/office/2007/relationships/media" Target="../media/media19.m4a"/><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4a"/><Relationship Id="rId1" Type="http://schemas.microsoft.com/office/2007/relationships/media" Target="../media/media20.m4a"/><Relationship Id="rId5" Type="http://schemas.openxmlformats.org/officeDocument/2006/relationships/image" Target="../media/image4.png"/><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Nate Riggs</a:t>
            </a:r>
            <a:endParaRPr dirty="0"/>
          </a:p>
          <a:p>
            <a:pPr marL="0" lvl="0" indent="0" algn="l" rtl="0">
              <a:lnSpc>
                <a:spcPct val="70000"/>
              </a:lnSpc>
              <a:spcBef>
                <a:spcPts val="1000"/>
              </a:spcBef>
              <a:spcAft>
                <a:spcPts val="0"/>
              </a:spcAft>
              <a:buClr>
                <a:schemeClr val="lt1"/>
              </a:buClr>
              <a:buSzPts val="1850"/>
              <a:buNone/>
            </a:pPr>
            <a:endParaRPr lang="en-US" sz="1850" i="1" dirty="0"/>
          </a:p>
          <a:p>
            <a:pPr marL="0" lvl="0" indent="0" algn="l" rtl="0">
              <a:lnSpc>
                <a:spcPct val="70000"/>
              </a:lnSpc>
              <a:spcBef>
                <a:spcPts val="1000"/>
              </a:spcBef>
              <a:spcAft>
                <a:spcPts val="0"/>
              </a:spcAft>
              <a:buClr>
                <a:schemeClr val="lt1"/>
              </a:buClr>
              <a:buSzPts val="1850"/>
              <a:buNone/>
            </a:pPr>
            <a:endParaRPr sz="1850" i="1" dirty="0"/>
          </a:p>
        </p:txBody>
      </p:sp>
      <p:pic>
        <p:nvPicPr>
          <p:cNvPr id="146" name="Google Shape;146;p1" descr="Green Pace logo"/>
          <p:cNvPicPr preferRelativeResize="0"/>
          <p:nvPr/>
        </p:nvPicPr>
        <p:blipFill>
          <a:blip r:embed="rId6">
            <a:alphaModFix/>
          </a:blip>
          <a:stretch>
            <a:fillRect/>
          </a:stretch>
        </p:blipFill>
        <p:spPr>
          <a:xfrm>
            <a:off x="7440774" y="659854"/>
            <a:ext cx="2921424" cy="3786772"/>
          </a:xfrm>
          <a:prstGeom prst="rect">
            <a:avLst/>
          </a:prstGeom>
          <a:noFill/>
          <a:ln>
            <a:noFill/>
          </a:ln>
        </p:spPr>
      </p:pic>
      <p:pic>
        <p:nvPicPr>
          <p:cNvPr id="4" name="Audio 3">
            <a:extLst>
              <a:ext uri="{FF2B5EF4-FFF2-40B4-BE49-F238E27FC236}">
                <a16:creationId xmlns:a16="http://schemas.microsoft.com/office/drawing/2014/main" id="{72174BE8-A149-ACED-0E7A-EFC461700A8E}"/>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9338"/>
    </mc:Choice>
    <mc:Fallback>
      <p:transition spd="slow" advTm="193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685800" y="2194560"/>
            <a:ext cx="4674476" cy="4024125"/>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lang="en-US" sz="1600" dirty="0"/>
              <a:t>Why is this Policy Needed?</a:t>
            </a:r>
          </a:p>
          <a:p>
            <a:pPr marL="1485900" lvl="1">
              <a:spcBef>
                <a:spcPts val="0"/>
              </a:spcBef>
            </a:pPr>
            <a:r>
              <a:rPr lang="en-US" sz="1200" dirty="0"/>
              <a:t>Standardize implicit security practices as Green Pace grows</a:t>
            </a:r>
          </a:p>
          <a:p>
            <a:pPr marL="1485900" lvl="1">
              <a:spcBef>
                <a:spcPts val="0"/>
              </a:spcBef>
            </a:pPr>
            <a:r>
              <a:rPr lang="en-US" sz="1200" dirty="0"/>
              <a:t>Transition from DevOps to </a:t>
            </a:r>
            <a:r>
              <a:rPr lang="en-US" sz="1200" dirty="0" err="1"/>
              <a:t>DevSecOps</a:t>
            </a:r>
            <a:r>
              <a:rPr lang="en-US" sz="1200" dirty="0"/>
              <a:t> for stronger security</a:t>
            </a:r>
          </a:p>
          <a:p>
            <a:pPr marL="1485900" lvl="1">
              <a:spcBef>
                <a:spcPts val="0"/>
              </a:spcBef>
            </a:pPr>
            <a:r>
              <a:rPr lang="en-US" sz="1200" dirty="0"/>
              <a:t>Prepare for security audits and ensure compliance</a:t>
            </a:r>
          </a:p>
          <a:p>
            <a:pPr marL="1485900" lvl="1">
              <a:spcBef>
                <a:spcPts val="0"/>
              </a:spcBef>
            </a:pPr>
            <a:r>
              <a:rPr lang="en-US" sz="1200" dirty="0"/>
              <a:t>Protect applications for environmentally responsible clients worldwide</a:t>
            </a:r>
          </a:p>
          <a:p>
            <a:pPr marL="1485900" lvl="1">
              <a:spcBef>
                <a:spcPts val="0"/>
              </a:spcBef>
            </a:pPr>
            <a:endParaRPr lang="en-US" sz="1200" dirty="0"/>
          </a:p>
          <a:p>
            <a:pPr marL="1143000" lvl="1" indent="0">
              <a:spcBef>
                <a:spcPts val="0"/>
              </a:spcBef>
              <a:buNone/>
            </a:pPr>
            <a:endParaRPr lang="en-US" sz="1200" dirty="0"/>
          </a:p>
          <a:p>
            <a:pPr marL="685800" lvl="0" indent="0">
              <a:spcBef>
                <a:spcPts val="0"/>
              </a:spcBef>
              <a:buNone/>
            </a:pPr>
            <a:r>
              <a:rPr lang="en-US" sz="1600" dirty="0"/>
              <a:t>How It Supports Defense-in-Depth</a:t>
            </a:r>
          </a:p>
          <a:p>
            <a:pPr marL="1485900" lvl="1">
              <a:spcBef>
                <a:spcPts val="0"/>
              </a:spcBef>
            </a:pPr>
            <a:r>
              <a:rPr lang="en-US" sz="1200" dirty="0"/>
              <a:t>Creates multiple layers of security protection</a:t>
            </a:r>
          </a:p>
          <a:p>
            <a:pPr marL="1485900" lvl="1">
              <a:spcBef>
                <a:spcPts val="0"/>
              </a:spcBef>
            </a:pPr>
            <a:r>
              <a:rPr lang="en-US" sz="1200" dirty="0"/>
              <a:t>Integrates 10 coding standards, encryption policies, and Triple-A framework</a:t>
            </a:r>
          </a:p>
          <a:p>
            <a:pPr marL="1485900" lvl="1">
              <a:spcBef>
                <a:spcPts val="0"/>
              </a:spcBef>
            </a:pPr>
            <a:r>
              <a:rPr lang="en-US" sz="1200" dirty="0"/>
              <a:t>Automates security throughout the development pipeline</a:t>
            </a:r>
          </a:p>
          <a:p>
            <a:pPr marL="1485900" lvl="1">
              <a:spcBef>
                <a:spcPts val="0"/>
              </a:spcBef>
            </a:pPr>
            <a:r>
              <a:rPr lang="en-US" sz="1200" dirty="0"/>
              <a:t>If one layer fails, others continue protecting the system</a:t>
            </a:r>
          </a:p>
          <a:p>
            <a:pPr marL="0" lvl="0" indent="0" algn="l" rtl="0">
              <a:lnSpc>
                <a:spcPct val="90000"/>
              </a:lnSpc>
              <a:spcBef>
                <a:spcPts val="1000"/>
              </a:spcBef>
              <a:spcAft>
                <a:spcPts val="0"/>
              </a:spcAft>
              <a:buClr>
                <a:schemeClr val="lt1"/>
              </a:buClr>
              <a:buSzPts val="2200"/>
              <a:buNone/>
            </a:pPr>
            <a:endParaRPr lang="en-US"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a:alphaModFix/>
          </a:blip>
          <a:srcRect/>
          <a:stretch/>
        </p:blipFill>
        <p:spPr>
          <a:xfrm>
            <a:off x="5360276" y="2194560"/>
            <a:ext cx="6453257" cy="3797196"/>
          </a:xfrm>
          <a:prstGeom prst="rect">
            <a:avLst/>
          </a:prstGeom>
          <a:noFill/>
          <a:ln>
            <a:noFill/>
          </a:ln>
        </p:spPr>
      </p:pic>
      <p:pic>
        <p:nvPicPr>
          <p:cNvPr id="154" name="Google Shape;154;p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5" name="Audio 4">
            <a:extLst>
              <a:ext uri="{FF2B5EF4-FFF2-40B4-BE49-F238E27FC236}">
                <a16:creationId xmlns:a16="http://schemas.microsoft.com/office/drawing/2014/main" id="{4EFF7DCF-FFD3-0157-6D26-51C9BFBA0756}"/>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3018"/>
    </mc:Choice>
    <mc:Fallback>
      <p:transition spd="slow" advTm="430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799" y="2194550"/>
            <a:ext cx="4633453" cy="4024200"/>
          </a:xfrm>
          <a:prstGeom prst="rect">
            <a:avLst/>
          </a:prstGeom>
          <a:noFill/>
          <a:ln>
            <a:noFill/>
          </a:ln>
        </p:spPr>
        <p:txBody>
          <a:bodyPr spcFirstLastPara="1" wrap="square" lIns="91425" tIns="45700" rIns="91425" bIns="45700" anchor="t" anchorCtr="0">
            <a:normAutofit/>
          </a:bodyPr>
          <a:lstStyle/>
          <a:p>
            <a:pPr marL="685800" indent="-457200">
              <a:lnSpc>
                <a:spcPct val="107916"/>
              </a:lnSpc>
              <a:spcBef>
                <a:spcPts val="0"/>
              </a:spcBef>
            </a:pPr>
            <a:r>
              <a:rPr lang="en-US" sz="2000" dirty="0">
                <a:solidFill>
                  <a:srgbClr val="FFFFFF"/>
                </a:solidFill>
              </a:rPr>
              <a:t>Prioritized by severity, likelihood, and cost. Top-left = highest risk, requiring immediate action.</a:t>
            </a:r>
          </a:p>
          <a:p>
            <a:pPr marL="685800" indent="-457200">
              <a:lnSpc>
                <a:spcPct val="107916"/>
              </a:lnSpc>
              <a:spcBef>
                <a:spcPts val="0"/>
              </a:spcBef>
            </a:pPr>
            <a:r>
              <a:rPr lang="en-US" dirty="0"/>
              <a:t>Automated tools scan every pull request. High-severity violations block merges.</a:t>
            </a:r>
          </a:p>
        </p:txBody>
      </p:sp>
      <p:graphicFrame>
        <p:nvGraphicFramePr>
          <p:cNvPr id="161" name="Google Shape;161;p4" descr="Alt text required"/>
          <p:cNvGraphicFramePr/>
          <p:nvPr>
            <p:extLst>
              <p:ext uri="{D42A27DB-BD31-4B8C-83A1-F6EECF244321}">
                <p14:modId xmlns:p14="http://schemas.microsoft.com/office/powerpoint/2010/main" val="104845460"/>
              </p:ext>
            </p:extLst>
          </p:nvPr>
        </p:nvGraphicFramePr>
        <p:xfrm>
          <a:off x="6872748" y="2561050"/>
          <a:ext cx="3554362" cy="3171375"/>
        </p:xfrm>
        <a:graphic>
          <a:graphicData uri="http://schemas.openxmlformats.org/drawingml/2006/table">
            <a:tbl>
              <a:tblPr firstRow="1" firstCol="1">
                <a:noFill/>
                <a:tableStyleId>{802198C4-3087-4945-87E3-76CBB3509B7E}</a:tableStyleId>
              </a:tblPr>
              <a:tblGrid>
                <a:gridCol w="1828357">
                  <a:extLst>
                    <a:ext uri="{9D8B030D-6E8A-4147-A177-3AD203B41FA5}">
                      <a16:colId xmlns:a16="http://schemas.microsoft.com/office/drawing/2014/main" val="20000"/>
                    </a:ext>
                  </a:extLst>
                </a:gridCol>
                <a:gridCol w="1726005">
                  <a:extLst>
                    <a:ext uri="{9D8B030D-6E8A-4147-A177-3AD203B41FA5}">
                      <a16:colId xmlns:a16="http://schemas.microsoft.com/office/drawing/2014/main" val="20001"/>
                    </a:ext>
                  </a:extLst>
                </a:gridCol>
              </a:tblGrid>
              <a:tr h="904821">
                <a:tc>
                  <a:txBody>
                    <a:bodyPr/>
                    <a:lstStyle/>
                    <a:p>
                      <a:pPr marL="0" marR="0" lvl="0" indent="0" algn="ctr" rtl="0">
                        <a:lnSpc>
                          <a:spcPct val="100000"/>
                        </a:lnSpc>
                        <a:spcBef>
                          <a:spcPts val="0"/>
                        </a:spcBef>
                        <a:spcAft>
                          <a:spcPts val="0"/>
                        </a:spcAft>
                        <a:buClr>
                          <a:srgbClr val="000000"/>
                        </a:buClr>
                        <a:buSzPts val="3600"/>
                        <a:buFont typeface="Arial"/>
                        <a:buNone/>
                      </a:pPr>
                      <a:r>
                        <a:rPr lang="en-US" sz="1600" u="sng" strike="noStrike" cap="none" dirty="0">
                          <a:solidFill>
                            <a:srgbClr val="FFD966"/>
                          </a:solidFill>
                        </a:rPr>
                        <a:t>Likely</a:t>
                      </a:r>
                      <a:endParaRPr lang="en-US" sz="1600" u="sng" strike="noStrike" cap="none" dirty="0"/>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STD-002-CPP STD-003-CPP STD-004-CPP STD-008-CPP</a:t>
                      </a:r>
                    </a:p>
                  </a:txBody>
                  <a:tcPr marL="91425" marR="91425" marT="91425" marB="91425">
                    <a:lnL w="28575" cap="flat" cmpd="sng" algn="ctr">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lgn="ctr">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600" u="sng" strike="noStrike" cap="none" dirty="0">
                          <a:solidFill>
                            <a:srgbClr val="FFD966"/>
                          </a:solidFill>
                        </a:rPr>
                        <a:t>Priority</a:t>
                      </a:r>
                      <a:endParaRPr lang="en-US" sz="1600" u="sng" strike="noStrike" cap="none" dirty="0"/>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STD-001-CPP</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STD-005-CPP</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STD-009-CPP</a:t>
                      </a:r>
                      <a:endParaRPr lang="en-US" sz="16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lgn="ctr">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1600" u="sng" strike="noStrike" cap="none" dirty="0">
                          <a:solidFill>
                            <a:srgbClr val="FFD966"/>
                          </a:solidFill>
                        </a:rPr>
                        <a:t>Low priority</a:t>
                      </a:r>
                      <a:endParaRPr lang="en-US" sz="1600" u="sng" strike="noStrike" cap="none" dirty="0"/>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STD-007-CPP</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STD-010-CPP</a:t>
                      </a:r>
                      <a:endParaRPr lang="en-US" sz="1600" u="none" strike="noStrike" cap="none" dirty="0"/>
                    </a:p>
                  </a:txBody>
                  <a:tcPr marL="91425" marR="91425" marT="91425" marB="91425">
                    <a:lnL w="28575" cap="flat" cmpd="sng" algn="ctr">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lgn="ctr">
                      <a:solidFill>
                        <a:srgbClr val="9E9E9E"/>
                      </a:solidFill>
                      <a:prstDash val="solid"/>
                      <a:round/>
                      <a:headEnd type="none" w="sm" len="sm"/>
                      <a:tailEnd type="none" w="sm" len="sm"/>
                    </a:lnT>
                    <a:lnB w="28575" cap="flat" cmpd="sng" algn="ctr">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600" u="sng" strike="noStrike" cap="none" dirty="0">
                          <a:solidFill>
                            <a:srgbClr val="FFD966"/>
                          </a:solidFill>
                        </a:rPr>
                        <a:t>Unlikely</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STD-006-CPP</a:t>
                      </a:r>
                      <a:endParaRPr lang="en-US" sz="16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lgn="ctr">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lgn="ctr">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Audio 2">
            <a:extLst>
              <a:ext uri="{FF2B5EF4-FFF2-40B4-BE49-F238E27FC236}">
                <a16:creationId xmlns:a16="http://schemas.microsoft.com/office/drawing/2014/main" id="{441C447A-1EE6-99EE-6049-A3AF759CEC5F}"/>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8256"/>
    </mc:Choice>
    <mc:Fallback>
      <p:transition spd="slow" advTm="482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E0A97B27-5601-6565-43C3-9421FCB11690}"/>
              </a:ext>
            </a:extLst>
          </p:cNvPr>
          <p:cNvGraphicFramePr>
            <a:graphicFrameLocks noGrp="1"/>
          </p:cNvGraphicFramePr>
          <p:nvPr>
            <p:extLst>
              <p:ext uri="{D42A27DB-BD31-4B8C-83A1-F6EECF244321}">
                <p14:modId xmlns:p14="http://schemas.microsoft.com/office/powerpoint/2010/main" val="1678978564"/>
              </p:ext>
            </p:extLst>
          </p:nvPr>
        </p:nvGraphicFramePr>
        <p:xfrm>
          <a:off x="2032000" y="1780543"/>
          <a:ext cx="8128000" cy="4521200"/>
        </p:xfrm>
        <a:graphic>
          <a:graphicData uri="http://schemas.openxmlformats.org/drawingml/2006/table">
            <a:tbl>
              <a:tblPr firstRow="1" bandRow="1">
                <a:tableStyleId>{802198C4-3087-4945-87E3-76CBB3509B7E}</a:tableStyleId>
              </a:tblPr>
              <a:tblGrid>
                <a:gridCol w="4064000">
                  <a:extLst>
                    <a:ext uri="{9D8B030D-6E8A-4147-A177-3AD203B41FA5}">
                      <a16:colId xmlns:a16="http://schemas.microsoft.com/office/drawing/2014/main" val="2919008688"/>
                    </a:ext>
                  </a:extLst>
                </a:gridCol>
                <a:gridCol w="4064000">
                  <a:extLst>
                    <a:ext uri="{9D8B030D-6E8A-4147-A177-3AD203B41FA5}">
                      <a16:colId xmlns:a16="http://schemas.microsoft.com/office/drawing/2014/main" val="2201961943"/>
                    </a:ext>
                  </a:extLst>
                </a:gridCol>
              </a:tblGrid>
              <a:tr h="370840">
                <a:tc>
                  <a:txBody>
                    <a:bodyPr/>
                    <a:lstStyle/>
                    <a:p>
                      <a:r>
                        <a:rPr lang="en-US" sz="1800" b="1" dirty="0">
                          <a:solidFill>
                            <a:schemeClr val="bg1"/>
                          </a:solidFill>
                          <a:latin typeface="Century Gothic" panose="020B0502020202020204" pitchFamily="34" charset="0"/>
                        </a:rPr>
                        <a:t>Security Principle</a:t>
                      </a:r>
                    </a:p>
                  </a:txBody>
                  <a:tcPr/>
                </a:tc>
                <a:tc>
                  <a:txBody>
                    <a:bodyPr/>
                    <a:lstStyle/>
                    <a:p>
                      <a:r>
                        <a:rPr lang="en-US" sz="1800" b="1" dirty="0">
                          <a:solidFill>
                            <a:schemeClr val="bg1"/>
                          </a:solidFill>
                          <a:latin typeface="Century Gothic" panose="020B0502020202020204" pitchFamily="34" charset="0"/>
                        </a:rPr>
                        <a:t>Applicable Coding Standard(s)</a:t>
                      </a:r>
                    </a:p>
                  </a:txBody>
                  <a:tcPr/>
                </a:tc>
                <a:extLst>
                  <a:ext uri="{0D108BD9-81ED-4DB2-BD59-A6C34878D82A}">
                    <a16:rowId xmlns:a16="http://schemas.microsoft.com/office/drawing/2014/main" val="4221227033"/>
                  </a:ext>
                </a:extLst>
              </a:tr>
              <a:tr h="370840">
                <a:tc>
                  <a:txBody>
                    <a:bodyPr/>
                    <a:lstStyle/>
                    <a:p>
                      <a:r>
                        <a:rPr lang="en-US" sz="1400">
                          <a:solidFill>
                            <a:schemeClr val="bg1"/>
                          </a:solidFill>
                          <a:latin typeface="Century Gothic" panose="020B0502020202020204" pitchFamily="34" charset="0"/>
                        </a:rPr>
                        <a:t>Validate Input Data</a:t>
                      </a:r>
                      <a:endParaRPr lang="en-US" sz="1400" dirty="0">
                        <a:solidFill>
                          <a:schemeClr val="bg1"/>
                        </a:solidFill>
                        <a:latin typeface="Century Gothic" panose="020B0502020202020204" pitchFamily="34" charset="0"/>
                      </a:endParaRPr>
                    </a:p>
                  </a:txBody>
                  <a:tcPr/>
                </a:tc>
                <a:tc>
                  <a:txBody>
                    <a:bodyPr/>
                    <a:lstStyle/>
                    <a:p>
                      <a:r>
                        <a:rPr lang="en-US" sz="1400" dirty="0">
                          <a:solidFill>
                            <a:schemeClr val="bg1"/>
                          </a:solidFill>
                          <a:latin typeface="Century Gothic" panose="020B0502020202020204" pitchFamily="34" charset="0"/>
                        </a:rPr>
                        <a:t>STD-002, STD-003, STD-004, STD-008, STD-009, STD-010</a:t>
                      </a:r>
                    </a:p>
                  </a:txBody>
                  <a:tcPr/>
                </a:tc>
                <a:extLst>
                  <a:ext uri="{0D108BD9-81ED-4DB2-BD59-A6C34878D82A}">
                    <a16:rowId xmlns:a16="http://schemas.microsoft.com/office/drawing/2014/main" val="3076818196"/>
                  </a:ext>
                </a:extLst>
              </a:tr>
              <a:tr h="370840">
                <a:tc>
                  <a:txBody>
                    <a:bodyPr/>
                    <a:lstStyle/>
                    <a:p>
                      <a:r>
                        <a:rPr lang="en-US" sz="1400" dirty="0">
                          <a:solidFill>
                            <a:schemeClr val="bg1"/>
                          </a:solidFill>
                          <a:latin typeface="Century Gothic" panose="020B0502020202020204" pitchFamily="34" charset="0"/>
                        </a:rPr>
                        <a:t>Heed Compiler Warnings</a:t>
                      </a:r>
                    </a:p>
                  </a:txBody>
                  <a:tcPr/>
                </a:tc>
                <a:tc>
                  <a:txBody>
                    <a:bodyPr/>
                    <a:lstStyle/>
                    <a:p>
                      <a:r>
                        <a:rPr lang="en-US" sz="1400" dirty="0">
                          <a:solidFill>
                            <a:schemeClr val="bg1"/>
                          </a:solidFill>
                          <a:latin typeface="Century Gothic" panose="020B0502020202020204" pitchFamily="34" charset="0"/>
                        </a:rPr>
                        <a:t>All Coding Standards</a:t>
                      </a:r>
                    </a:p>
                  </a:txBody>
                  <a:tcPr/>
                </a:tc>
                <a:extLst>
                  <a:ext uri="{0D108BD9-81ED-4DB2-BD59-A6C34878D82A}">
                    <a16:rowId xmlns:a16="http://schemas.microsoft.com/office/drawing/2014/main" val="3642022358"/>
                  </a:ext>
                </a:extLst>
              </a:tr>
              <a:tr h="370840">
                <a:tc>
                  <a:txBody>
                    <a:bodyPr/>
                    <a:lstStyle/>
                    <a:p>
                      <a:r>
                        <a:rPr lang="en-US" sz="1400" dirty="0">
                          <a:solidFill>
                            <a:schemeClr val="bg1"/>
                          </a:solidFill>
                          <a:latin typeface="Century Gothic" panose="020B0502020202020204" pitchFamily="34" charset="0"/>
                        </a:rPr>
                        <a:t>Architect and Design for Security Policies</a:t>
                      </a:r>
                    </a:p>
                  </a:txBody>
                  <a:tcPr/>
                </a:tc>
                <a:tc>
                  <a:txBody>
                    <a:bodyPr/>
                    <a:lstStyle/>
                    <a:p>
                      <a:r>
                        <a:rPr lang="en-US" sz="1400" dirty="0">
                          <a:solidFill>
                            <a:schemeClr val="bg1"/>
                          </a:solidFill>
                          <a:latin typeface="Century Gothic" panose="020B0502020202020204" pitchFamily="34" charset="0"/>
                        </a:rPr>
                        <a:t>All Coding Standards</a:t>
                      </a:r>
                    </a:p>
                  </a:txBody>
                  <a:tcPr/>
                </a:tc>
                <a:extLst>
                  <a:ext uri="{0D108BD9-81ED-4DB2-BD59-A6C34878D82A}">
                    <a16:rowId xmlns:a16="http://schemas.microsoft.com/office/drawing/2014/main" val="3210690206"/>
                  </a:ext>
                </a:extLst>
              </a:tr>
              <a:tr h="370840">
                <a:tc>
                  <a:txBody>
                    <a:bodyPr/>
                    <a:lstStyle/>
                    <a:p>
                      <a:r>
                        <a:rPr lang="en-US" sz="1400" dirty="0">
                          <a:solidFill>
                            <a:schemeClr val="bg1"/>
                          </a:solidFill>
                          <a:latin typeface="Century Gothic" panose="020B0502020202020204" pitchFamily="34" charset="0"/>
                        </a:rPr>
                        <a:t>Keep It Simple</a:t>
                      </a:r>
                    </a:p>
                  </a:txBody>
                  <a:tcPr/>
                </a:tc>
                <a:tc>
                  <a:txBody>
                    <a:bodyPr/>
                    <a:lstStyle/>
                    <a:p>
                      <a:r>
                        <a:rPr lang="en-US" sz="1400" dirty="0">
                          <a:solidFill>
                            <a:schemeClr val="bg1"/>
                          </a:solidFill>
                          <a:latin typeface="Century Gothic" panose="020B0502020202020204" pitchFamily="34" charset="0"/>
                        </a:rPr>
                        <a:t>STD-001, STD-005, STD-006, STD-007</a:t>
                      </a:r>
                    </a:p>
                  </a:txBody>
                  <a:tcPr/>
                </a:tc>
                <a:extLst>
                  <a:ext uri="{0D108BD9-81ED-4DB2-BD59-A6C34878D82A}">
                    <a16:rowId xmlns:a16="http://schemas.microsoft.com/office/drawing/2014/main" val="576514935"/>
                  </a:ext>
                </a:extLst>
              </a:tr>
              <a:tr h="370840">
                <a:tc>
                  <a:txBody>
                    <a:bodyPr/>
                    <a:lstStyle/>
                    <a:p>
                      <a:r>
                        <a:rPr lang="en-US" sz="1400" dirty="0">
                          <a:solidFill>
                            <a:schemeClr val="bg1"/>
                          </a:solidFill>
                          <a:latin typeface="Century Gothic" panose="020B0502020202020204" pitchFamily="34" charset="0"/>
                        </a:rPr>
                        <a:t>Default Deny</a:t>
                      </a:r>
                    </a:p>
                  </a:txBody>
                  <a:tcPr/>
                </a:tc>
                <a:tc>
                  <a:txBody>
                    <a:bodyPr/>
                    <a:lstStyle/>
                    <a:p>
                      <a:r>
                        <a:rPr lang="en-US" sz="1400" dirty="0">
                          <a:solidFill>
                            <a:schemeClr val="bg1"/>
                          </a:solidFill>
                          <a:latin typeface="Century Gothic" panose="020B0502020202020204" pitchFamily="34" charset="0"/>
                        </a:rPr>
                        <a:t>STD-002, STD-004, STD-008, STD-010</a:t>
                      </a:r>
                    </a:p>
                  </a:txBody>
                  <a:tcPr/>
                </a:tc>
                <a:extLst>
                  <a:ext uri="{0D108BD9-81ED-4DB2-BD59-A6C34878D82A}">
                    <a16:rowId xmlns:a16="http://schemas.microsoft.com/office/drawing/2014/main" val="1415503187"/>
                  </a:ext>
                </a:extLst>
              </a:tr>
              <a:tr h="370840">
                <a:tc>
                  <a:txBody>
                    <a:bodyPr/>
                    <a:lstStyle/>
                    <a:p>
                      <a:r>
                        <a:rPr lang="en-US" sz="1400" dirty="0">
                          <a:solidFill>
                            <a:schemeClr val="bg1"/>
                          </a:solidFill>
                          <a:latin typeface="Century Gothic" panose="020B0502020202020204" pitchFamily="34" charset="0"/>
                        </a:rPr>
                        <a:t>Adhere to the Principle of Least Privilege</a:t>
                      </a:r>
                    </a:p>
                  </a:txBody>
                  <a:tcPr/>
                </a:tc>
                <a:tc>
                  <a:txBody>
                    <a:bodyPr/>
                    <a:lstStyle/>
                    <a:p>
                      <a:r>
                        <a:rPr lang="en-US" sz="1400" dirty="0">
                          <a:solidFill>
                            <a:schemeClr val="bg1"/>
                          </a:solidFill>
                          <a:latin typeface="Century Gothic" panose="020B0502020202020204" pitchFamily="34" charset="0"/>
                        </a:rPr>
                        <a:t>STD-005</a:t>
                      </a:r>
                    </a:p>
                  </a:txBody>
                  <a:tcPr/>
                </a:tc>
                <a:extLst>
                  <a:ext uri="{0D108BD9-81ED-4DB2-BD59-A6C34878D82A}">
                    <a16:rowId xmlns:a16="http://schemas.microsoft.com/office/drawing/2014/main" val="2878928799"/>
                  </a:ext>
                </a:extLst>
              </a:tr>
              <a:tr h="370840">
                <a:tc>
                  <a:txBody>
                    <a:bodyPr/>
                    <a:lstStyle/>
                    <a:p>
                      <a:r>
                        <a:rPr lang="en-US" sz="1400" dirty="0">
                          <a:solidFill>
                            <a:schemeClr val="bg1"/>
                          </a:solidFill>
                          <a:latin typeface="Century Gothic" panose="020B0502020202020204" pitchFamily="34" charset="0"/>
                        </a:rPr>
                        <a:t>Sanitize Data Sent to Other Systems</a:t>
                      </a:r>
                    </a:p>
                  </a:txBody>
                  <a:tcPr/>
                </a:tc>
                <a:tc>
                  <a:txBody>
                    <a:bodyPr/>
                    <a:lstStyle/>
                    <a:p>
                      <a:r>
                        <a:rPr lang="en-US" sz="1400" dirty="0">
                          <a:solidFill>
                            <a:schemeClr val="bg1"/>
                          </a:solidFill>
                          <a:latin typeface="Century Gothic" panose="020B0502020202020204" pitchFamily="34" charset="0"/>
                        </a:rPr>
                        <a:t>STD-004</a:t>
                      </a:r>
                    </a:p>
                  </a:txBody>
                  <a:tcPr/>
                </a:tc>
                <a:extLst>
                  <a:ext uri="{0D108BD9-81ED-4DB2-BD59-A6C34878D82A}">
                    <a16:rowId xmlns:a16="http://schemas.microsoft.com/office/drawing/2014/main" val="3039709923"/>
                  </a:ext>
                </a:extLst>
              </a:tr>
              <a:tr h="370840">
                <a:tc>
                  <a:txBody>
                    <a:bodyPr/>
                    <a:lstStyle/>
                    <a:p>
                      <a:r>
                        <a:rPr lang="en-US" sz="1400" dirty="0">
                          <a:solidFill>
                            <a:schemeClr val="bg1"/>
                          </a:solidFill>
                          <a:latin typeface="Century Gothic" panose="020B0502020202020204" pitchFamily="34" charset="0"/>
                        </a:rPr>
                        <a:t>Practice Defense in Depth</a:t>
                      </a:r>
                    </a:p>
                  </a:txBody>
                  <a:tcPr/>
                </a:tc>
                <a:tc>
                  <a:txBody>
                    <a:bodyPr/>
                    <a:lstStyle/>
                    <a:p>
                      <a:r>
                        <a:rPr lang="en-US" sz="1400" dirty="0">
                          <a:solidFill>
                            <a:schemeClr val="bg1"/>
                          </a:solidFill>
                          <a:latin typeface="Century Gothic" panose="020B0502020202020204" pitchFamily="34" charset="0"/>
                        </a:rPr>
                        <a:t>STD-003, STD-005, STD-007, STD-008, STD-009, STD-010</a:t>
                      </a:r>
                    </a:p>
                  </a:txBody>
                  <a:tcPr/>
                </a:tc>
                <a:extLst>
                  <a:ext uri="{0D108BD9-81ED-4DB2-BD59-A6C34878D82A}">
                    <a16:rowId xmlns:a16="http://schemas.microsoft.com/office/drawing/2014/main" val="4226064963"/>
                  </a:ext>
                </a:extLst>
              </a:tr>
              <a:tr h="370840">
                <a:tc>
                  <a:txBody>
                    <a:bodyPr/>
                    <a:lstStyle/>
                    <a:p>
                      <a:r>
                        <a:rPr lang="en-US" sz="1400" dirty="0">
                          <a:solidFill>
                            <a:schemeClr val="bg1"/>
                          </a:solidFill>
                          <a:latin typeface="Century Gothic" panose="020B0502020202020204" pitchFamily="34" charset="0"/>
                        </a:rPr>
                        <a:t>Use Effective Quality Assurance Techniques</a:t>
                      </a:r>
                    </a:p>
                  </a:txBody>
                  <a:tcPr/>
                </a:tc>
                <a:tc>
                  <a:txBody>
                    <a:bodyPr/>
                    <a:lstStyle/>
                    <a:p>
                      <a:r>
                        <a:rPr lang="en-US" sz="1400" dirty="0">
                          <a:solidFill>
                            <a:schemeClr val="bg1"/>
                          </a:solidFill>
                          <a:latin typeface="Century Gothic" panose="020B0502020202020204" pitchFamily="34" charset="0"/>
                        </a:rPr>
                        <a:t>STD-006, STD-007, STD-009</a:t>
                      </a:r>
                    </a:p>
                  </a:txBody>
                  <a:tcPr/>
                </a:tc>
                <a:extLst>
                  <a:ext uri="{0D108BD9-81ED-4DB2-BD59-A6C34878D82A}">
                    <a16:rowId xmlns:a16="http://schemas.microsoft.com/office/drawing/2014/main" val="2142418685"/>
                  </a:ext>
                </a:extLst>
              </a:tr>
              <a:tr h="370840">
                <a:tc>
                  <a:txBody>
                    <a:bodyPr/>
                    <a:lstStyle/>
                    <a:p>
                      <a:r>
                        <a:rPr lang="en-US" sz="1400" dirty="0">
                          <a:solidFill>
                            <a:schemeClr val="bg1"/>
                          </a:solidFill>
                          <a:latin typeface="Century Gothic" panose="020B0502020202020204" pitchFamily="34" charset="0"/>
                        </a:rPr>
                        <a:t>Adopt a Secure Coding Standard</a:t>
                      </a:r>
                    </a:p>
                  </a:txBody>
                  <a:tcPr/>
                </a:tc>
                <a:tc>
                  <a:txBody>
                    <a:bodyPr/>
                    <a:lstStyle/>
                    <a:p>
                      <a:r>
                        <a:rPr lang="en-US" sz="1400" dirty="0">
                          <a:solidFill>
                            <a:schemeClr val="bg1"/>
                          </a:solidFill>
                          <a:latin typeface="Century Gothic" panose="020B0502020202020204" pitchFamily="34" charset="0"/>
                        </a:rPr>
                        <a:t>All Coding Standards</a:t>
                      </a:r>
                    </a:p>
                    <a:p>
                      <a:endParaRPr lang="en-US" sz="1400" dirty="0">
                        <a:solidFill>
                          <a:schemeClr val="bg1"/>
                        </a:solidFill>
                        <a:latin typeface="Century Gothic" panose="020B0502020202020204" pitchFamily="34" charset="0"/>
                      </a:endParaRPr>
                    </a:p>
                  </a:txBody>
                  <a:tcPr/>
                </a:tc>
                <a:extLst>
                  <a:ext uri="{0D108BD9-81ED-4DB2-BD59-A6C34878D82A}">
                    <a16:rowId xmlns:a16="http://schemas.microsoft.com/office/drawing/2014/main" val="45503470"/>
                  </a:ext>
                </a:extLst>
              </a:tr>
            </a:tbl>
          </a:graphicData>
        </a:graphic>
      </p:graphicFrame>
      <p:pic>
        <p:nvPicPr>
          <p:cNvPr id="4" name="Audio 3">
            <a:extLst>
              <a:ext uri="{FF2B5EF4-FFF2-40B4-BE49-F238E27FC236}">
                <a16:creationId xmlns:a16="http://schemas.microsoft.com/office/drawing/2014/main" id="{9CD4B35C-390E-64FF-D27B-041B18DF8966}"/>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3050"/>
    </mc:Choice>
    <mc:Fallback>
      <p:transition spd="slow" advTm="43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endParaRPr lang="en-US" sz="2000" dirty="0"/>
          </a:p>
          <a:p>
            <a:pPr marL="0" lvl="0" indent="0" algn="l" rtl="0">
              <a:lnSpc>
                <a:spcPct val="90000"/>
              </a:lnSpc>
              <a:spcBef>
                <a:spcPts val="0"/>
              </a:spcBef>
              <a:spcAft>
                <a:spcPts val="0"/>
              </a:spcAft>
              <a:buClr>
                <a:schemeClr val="lt1"/>
              </a:buClr>
              <a:buSzPts val="2000"/>
              <a:buNone/>
            </a:pPr>
            <a:r>
              <a:rPr lang="en-US" sz="2000" dirty="0"/>
              <a:t>1. </a:t>
            </a:r>
            <a:r>
              <a:rPr lang="en-US" sz="2000" b="1" dirty="0"/>
              <a:t>STD-004-CPP</a:t>
            </a:r>
            <a:r>
              <a:rPr lang="en-US" sz="2000" dirty="0"/>
              <a:t> - Use Parameterized Queries to Prevent SQL Injection</a:t>
            </a:r>
          </a:p>
          <a:p>
            <a:pPr marL="0" lvl="0" indent="0" algn="l" rtl="0">
              <a:lnSpc>
                <a:spcPct val="90000"/>
              </a:lnSpc>
              <a:spcBef>
                <a:spcPts val="0"/>
              </a:spcBef>
              <a:spcAft>
                <a:spcPts val="0"/>
              </a:spcAft>
              <a:buClr>
                <a:schemeClr val="lt1"/>
              </a:buClr>
              <a:buSzPts val="2000"/>
              <a:buNone/>
            </a:pPr>
            <a:r>
              <a:rPr lang="en-US" sz="2000" dirty="0"/>
              <a:t>2. </a:t>
            </a:r>
            <a:r>
              <a:rPr lang="en-US" sz="2000" b="1" dirty="0"/>
              <a:t>STD-008-CPP</a:t>
            </a:r>
            <a:r>
              <a:rPr lang="en-US" sz="2000" dirty="0"/>
              <a:t> - Validate All Input from External Sources</a:t>
            </a:r>
          </a:p>
          <a:p>
            <a:pPr marL="0" lvl="0" indent="0" algn="l" rtl="0">
              <a:lnSpc>
                <a:spcPct val="90000"/>
              </a:lnSpc>
              <a:spcBef>
                <a:spcPts val="0"/>
              </a:spcBef>
              <a:spcAft>
                <a:spcPts val="0"/>
              </a:spcAft>
              <a:buClr>
                <a:schemeClr val="lt1"/>
              </a:buClr>
              <a:buSzPts val="2000"/>
              <a:buNone/>
            </a:pPr>
            <a:r>
              <a:rPr lang="en-US" sz="2000" dirty="0"/>
              <a:t>3. </a:t>
            </a:r>
            <a:r>
              <a:rPr lang="en-US" sz="2000" b="1" dirty="0"/>
              <a:t>STD-002-CPP</a:t>
            </a:r>
            <a:r>
              <a:rPr lang="en-US" sz="2000" dirty="0"/>
              <a:t> - Validate Data Values Within Expected Ranges</a:t>
            </a:r>
          </a:p>
          <a:p>
            <a:pPr marL="0" lvl="0" indent="0" algn="l" rtl="0">
              <a:lnSpc>
                <a:spcPct val="90000"/>
              </a:lnSpc>
              <a:spcBef>
                <a:spcPts val="0"/>
              </a:spcBef>
              <a:spcAft>
                <a:spcPts val="0"/>
              </a:spcAft>
              <a:buClr>
                <a:schemeClr val="lt1"/>
              </a:buClr>
              <a:buSzPts val="2000"/>
              <a:buNone/>
            </a:pPr>
            <a:r>
              <a:rPr lang="en-US" sz="2000" dirty="0"/>
              <a:t>4. </a:t>
            </a:r>
            <a:r>
              <a:rPr lang="en-US" sz="2000" b="1" dirty="0"/>
              <a:t>STD-003-CPP</a:t>
            </a:r>
            <a:r>
              <a:rPr lang="en-US" sz="2000" dirty="0"/>
              <a:t> - Use Safe String Operations to Prevent Buffer Overflows</a:t>
            </a:r>
          </a:p>
          <a:p>
            <a:pPr marL="0" lvl="0" indent="0" algn="l" rtl="0">
              <a:lnSpc>
                <a:spcPct val="90000"/>
              </a:lnSpc>
              <a:spcBef>
                <a:spcPts val="0"/>
              </a:spcBef>
              <a:spcAft>
                <a:spcPts val="0"/>
              </a:spcAft>
              <a:buClr>
                <a:schemeClr val="lt1"/>
              </a:buClr>
              <a:buSzPts val="2000"/>
              <a:buNone/>
            </a:pPr>
            <a:r>
              <a:rPr lang="en-US" sz="2000" dirty="0"/>
              <a:t>5. </a:t>
            </a:r>
            <a:r>
              <a:rPr lang="en-US" sz="2000" b="1" dirty="0"/>
              <a:t>STD-005-CPP</a:t>
            </a:r>
            <a:r>
              <a:rPr lang="en-US" sz="2000" dirty="0"/>
              <a:t> - Properly Manage Dynamic Memory</a:t>
            </a:r>
          </a:p>
          <a:p>
            <a:pPr marL="0" lvl="0" indent="0" algn="l" rtl="0">
              <a:lnSpc>
                <a:spcPct val="90000"/>
              </a:lnSpc>
              <a:spcBef>
                <a:spcPts val="0"/>
              </a:spcBef>
              <a:spcAft>
                <a:spcPts val="0"/>
              </a:spcAft>
              <a:buClr>
                <a:schemeClr val="lt1"/>
              </a:buClr>
              <a:buSzPts val="2000"/>
              <a:buNone/>
            </a:pPr>
            <a:r>
              <a:rPr lang="en-US" sz="2000" dirty="0"/>
              <a:t>6. </a:t>
            </a:r>
            <a:r>
              <a:rPr lang="en-US" sz="2000" b="1" dirty="0"/>
              <a:t>STD-009-CPP</a:t>
            </a:r>
            <a:r>
              <a:rPr lang="en-US" sz="2000" dirty="0"/>
              <a:t> - Prevent Integer Overflow/Underflow</a:t>
            </a:r>
          </a:p>
          <a:p>
            <a:pPr marL="0" lvl="0" indent="0" algn="l" rtl="0">
              <a:lnSpc>
                <a:spcPct val="90000"/>
              </a:lnSpc>
              <a:spcBef>
                <a:spcPts val="0"/>
              </a:spcBef>
              <a:spcAft>
                <a:spcPts val="0"/>
              </a:spcAft>
              <a:buClr>
                <a:schemeClr val="lt1"/>
              </a:buClr>
              <a:buSzPts val="2000"/>
              <a:buNone/>
            </a:pPr>
            <a:r>
              <a:rPr lang="en-US" sz="2000" dirty="0"/>
              <a:t>7. </a:t>
            </a:r>
            <a:r>
              <a:rPr lang="en-US" sz="2000" b="1" dirty="0"/>
              <a:t>STD-001-CPP</a:t>
            </a:r>
            <a:r>
              <a:rPr lang="en-US" sz="2000" dirty="0"/>
              <a:t> - Use Appropriate Data Types for Variables</a:t>
            </a:r>
          </a:p>
          <a:p>
            <a:pPr marL="0" lvl="0" indent="0" algn="l" rtl="0">
              <a:lnSpc>
                <a:spcPct val="90000"/>
              </a:lnSpc>
              <a:spcBef>
                <a:spcPts val="0"/>
              </a:spcBef>
              <a:spcAft>
                <a:spcPts val="0"/>
              </a:spcAft>
              <a:buClr>
                <a:schemeClr val="lt1"/>
              </a:buClr>
              <a:buSzPts val="2000"/>
              <a:buNone/>
            </a:pPr>
            <a:r>
              <a:rPr lang="en-US" sz="2000" dirty="0"/>
              <a:t>8. </a:t>
            </a:r>
            <a:r>
              <a:rPr lang="en-US" sz="2000" b="1" dirty="0"/>
              <a:t>STD-006-CPP</a:t>
            </a:r>
            <a:r>
              <a:rPr lang="en-US" sz="2000" dirty="0"/>
              <a:t> - Use Assertions to Verify Program Assumptions</a:t>
            </a:r>
          </a:p>
          <a:p>
            <a:pPr marL="0" lvl="0" indent="0" algn="l" rtl="0">
              <a:lnSpc>
                <a:spcPct val="90000"/>
              </a:lnSpc>
              <a:spcBef>
                <a:spcPts val="0"/>
              </a:spcBef>
              <a:spcAft>
                <a:spcPts val="0"/>
              </a:spcAft>
              <a:buClr>
                <a:schemeClr val="lt1"/>
              </a:buClr>
              <a:buSzPts val="2000"/>
              <a:buNone/>
            </a:pPr>
            <a:r>
              <a:rPr lang="en-US" sz="2000" dirty="0"/>
              <a:t>9. </a:t>
            </a:r>
            <a:r>
              <a:rPr lang="en-US" sz="2000" b="1" dirty="0"/>
              <a:t>STD-007-CPP</a:t>
            </a:r>
            <a:r>
              <a:rPr lang="en-US" sz="2000" dirty="0"/>
              <a:t> - Handle Exceptions Properly</a:t>
            </a:r>
          </a:p>
          <a:p>
            <a:pPr marL="0" lvl="0" indent="0" algn="l" rtl="0">
              <a:lnSpc>
                <a:spcPct val="90000"/>
              </a:lnSpc>
              <a:spcBef>
                <a:spcPts val="0"/>
              </a:spcBef>
              <a:spcAft>
                <a:spcPts val="0"/>
              </a:spcAft>
              <a:buClr>
                <a:schemeClr val="lt1"/>
              </a:buClr>
              <a:buSzPts val="2000"/>
              <a:buNone/>
            </a:pPr>
            <a:r>
              <a:rPr lang="en-US" sz="2000" dirty="0"/>
              <a:t>10. </a:t>
            </a:r>
            <a:r>
              <a:rPr lang="en-US" sz="2000" b="1" dirty="0"/>
              <a:t>STD-010-CPP</a:t>
            </a:r>
            <a:r>
              <a:rPr lang="en-US" sz="2000" dirty="0"/>
              <a:t> - Prevent Null Pointer Dereferences</a:t>
            </a:r>
            <a:endParaRPr dirty="0"/>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Audio 2">
            <a:extLst>
              <a:ext uri="{FF2B5EF4-FFF2-40B4-BE49-F238E27FC236}">
                <a16:creationId xmlns:a16="http://schemas.microsoft.com/office/drawing/2014/main" id="{E799B7E8-B8F0-2190-6616-AD47FC10DD50}"/>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3200"/>
    </mc:Choice>
    <mc:Fallback>
      <p:transition spd="slow" advTm="43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b="1" dirty="0"/>
              <a:t>Encryption at Rest</a:t>
            </a:r>
          </a:p>
          <a:p>
            <a:pPr marL="685800" lvl="1" indent="-228600">
              <a:spcBef>
                <a:spcPts val="0"/>
              </a:spcBef>
              <a:buSzPts val="2000"/>
            </a:pPr>
            <a:r>
              <a:rPr lang="en-US" sz="1600" dirty="0"/>
              <a:t>Protects stored data on hard drives, databases, backups, and cloud storage. All sensitive data must be encrypted using AES-256 or stronger before storage. Keys are managed separately from encrypted data. Ensures stolen or improperly disposed storage media remains unreadable without decryption keys.</a:t>
            </a:r>
          </a:p>
          <a:p>
            <a:pPr marL="228600" indent="-228600">
              <a:spcBef>
                <a:spcPts val="0"/>
              </a:spcBef>
              <a:buSzPts val="2000"/>
            </a:pPr>
            <a:r>
              <a:rPr lang="en-US" sz="2000" b="1" dirty="0"/>
              <a:t>Encryption in Flight</a:t>
            </a:r>
          </a:p>
          <a:p>
            <a:pPr marL="685800" lvl="1" indent="-228600">
              <a:spcBef>
                <a:spcPts val="0"/>
              </a:spcBef>
              <a:buSzPts val="2000"/>
            </a:pPr>
            <a:r>
              <a:rPr lang="en-US" sz="1600" dirty="0"/>
              <a:t>Protects data traveling across networks between systems or users. All transmissions must use TLS 1.2+, SSH, or VPNs. Applies to server traffic, client communications, API calls, and database connections. Prevents man-in-the-middle attacks and network eavesdropping.</a:t>
            </a:r>
          </a:p>
          <a:p>
            <a:pPr marL="228600" lvl="0" indent="-228600" algn="l" rtl="0">
              <a:lnSpc>
                <a:spcPct val="90000"/>
              </a:lnSpc>
              <a:spcBef>
                <a:spcPts val="0"/>
              </a:spcBef>
              <a:spcAft>
                <a:spcPts val="0"/>
              </a:spcAft>
              <a:buClr>
                <a:schemeClr val="lt1"/>
              </a:buClr>
              <a:buSzPts val="2000"/>
              <a:buChar char="•"/>
            </a:pPr>
            <a:r>
              <a:rPr lang="en-US" sz="2000" b="1" dirty="0"/>
              <a:t>Encryption in Use</a:t>
            </a:r>
          </a:p>
          <a:p>
            <a:pPr marL="685800" lvl="1" indent="-228600">
              <a:spcBef>
                <a:spcPts val="0"/>
              </a:spcBef>
              <a:buSzPts val="2000"/>
            </a:pPr>
            <a:r>
              <a:rPr lang="en-US" sz="1600" dirty="0"/>
              <a:t>Protects data during active processing in memory or CPU. Sensitive data remains encrypted using secure enclaves or trusted execution environments. Applies to payment processing, key operations, PII analytics, and credential verification. Protects against memory dumps and side-channel attacks.</a:t>
            </a:r>
          </a:p>
          <a:p>
            <a:pPr marL="457200" lvl="1" indent="0">
              <a:spcBef>
                <a:spcPts val="0"/>
              </a:spcBef>
              <a:buSzPts val="2000"/>
              <a:buNone/>
            </a:pPr>
            <a:endParaRPr sz="1600" dirty="0"/>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Audio 2">
            <a:extLst>
              <a:ext uri="{FF2B5EF4-FFF2-40B4-BE49-F238E27FC236}">
                <a16:creationId xmlns:a16="http://schemas.microsoft.com/office/drawing/2014/main" id="{C7B29BFF-F36B-5625-43E6-FAF1274F48D0}"/>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2576"/>
    </mc:Choice>
    <mc:Fallback>
      <p:transition spd="slow" advTm="525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rPr lang="en-US" sz="2000" b="1" dirty="0"/>
              <a:t>Authentication</a:t>
            </a:r>
          </a:p>
          <a:p>
            <a:pPr marL="685800" lvl="1" indent="-228600">
              <a:spcBef>
                <a:spcPts val="0"/>
              </a:spcBef>
              <a:buSzPts val="2400"/>
            </a:pPr>
            <a:r>
              <a:rPr lang="en-US" sz="1600" dirty="0"/>
              <a:t>Verifies the identity of users, systems, or devices accessing Green Pace resources. Multi-factor authentication (MFA) required for all accounts accessing development systems, production environments, and administrative interfaces. Authentication must include at least two factors: something known (password), something possessed (token/phone), or something inherent (biometrics). Strong passwords require minimum 12 characters with complexity requirements.</a:t>
            </a:r>
          </a:p>
          <a:p>
            <a:pPr marL="228600" indent="-228600">
              <a:spcBef>
                <a:spcPts val="0"/>
              </a:spcBef>
              <a:buSzPts val="2400"/>
            </a:pPr>
            <a:r>
              <a:rPr lang="en-US" b="1" dirty="0"/>
              <a:t>Authorization</a:t>
            </a:r>
          </a:p>
          <a:p>
            <a:pPr marL="685800" lvl="1" indent="-228600">
              <a:spcBef>
                <a:spcPts val="0"/>
              </a:spcBef>
              <a:buSzPts val="2400"/>
            </a:pPr>
            <a:r>
              <a:rPr lang="en-US" sz="1600" dirty="0"/>
              <a:t>Determines what authenticated users are permitted to do after identity verification. Role-based access control (RBAC) grants permissions based on job functions and least privilege. Users receive only minimum permissions necessary for their duties, with elevated privileges granted temporarily and logged. Authorization changes must be reviewed and approved by managers. Prevents privilege escalation and limits damage from compromised accounts.</a:t>
            </a:r>
            <a:endParaRPr lang="en-US" b="1" dirty="0"/>
          </a:p>
          <a:p>
            <a:pPr marL="228600" lvl="0" indent="-228600" algn="l" rtl="0">
              <a:lnSpc>
                <a:spcPct val="90000"/>
              </a:lnSpc>
              <a:spcBef>
                <a:spcPts val="0"/>
              </a:spcBef>
              <a:spcAft>
                <a:spcPts val="0"/>
              </a:spcAft>
              <a:buClr>
                <a:schemeClr val="lt1"/>
              </a:buClr>
              <a:buSzPts val="2400"/>
              <a:buChar char="•"/>
            </a:pPr>
            <a:r>
              <a:rPr lang="en-US" sz="2000" b="1" dirty="0"/>
              <a:t>Accounting</a:t>
            </a:r>
          </a:p>
          <a:p>
            <a:pPr marL="685800" lvl="1" indent="-228600">
              <a:spcBef>
                <a:spcPts val="0"/>
              </a:spcBef>
              <a:buSzPts val="2400"/>
            </a:pPr>
            <a:r>
              <a:rPr lang="en-US" sz="1600" dirty="0"/>
              <a:t>Tracks and logs all security-relevant activities. Comprehensive logging includes user logins/logouts, database changes, user account modifications, permission changes, file access, and privileged operations. Logs must be tamper-proof, retained per compliance requirements, and monitored for suspicious patterns. Creates audit trail for forensic investigation and ensures accountability.</a:t>
            </a:r>
          </a:p>
          <a:p>
            <a:pPr marL="228600" lvl="0" indent="-228600" algn="l" rtl="0">
              <a:lnSpc>
                <a:spcPct val="90000"/>
              </a:lnSpc>
              <a:spcBef>
                <a:spcPts val="0"/>
              </a:spcBef>
              <a:spcAft>
                <a:spcPts val="0"/>
              </a:spcAft>
              <a:buClr>
                <a:schemeClr val="lt1"/>
              </a:buClr>
              <a:buSzPts val="2400"/>
              <a:buChar char="•"/>
            </a:pPr>
            <a:endParaRPr sz="2000" b="1" dirty="0"/>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Audio 2">
            <a:extLst>
              <a:ext uri="{FF2B5EF4-FFF2-40B4-BE49-F238E27FC236}">
                <a16:creationId xmlns:a16="http://schemas.microsoft.com/office/drawing/2014/main" id="{D3DED1F4-880C-E0C8-AA68-553263F202E4}"/>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6053"/>
    </mc:Choice>
    <mc:Fallback>
      <p:transition spd="slow" advTm="560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C9D-133E-9FE0-E784-C83A586BE8FC}"/>
              </a:ext>
            </a:extLst>
          </p:cNvPr>
          <p:cNvSpPr>
            <a:spLocks noGrp="1"/>
          </p:cNvSpPr>
          <p:nvPr>
            <p:ph type="title"/>
          </p:nvPr>
        </p:nvSpPr>
        <p:spPr/>
        <p:txBody>
          <a:bodyPr/>
          <a:lstStyle/>
          <a:p>
            <a:r>
              <a:rPr lang="en-US" dirty="0"/>
              <a:t>Unit Testing</a:t>
            </a:r>
          </a:p>
        </p:txBody>
      </p:sp>
      <p:pic>
        <p:nvPicPr>
          <p:cNvPr id="4" name="Audio 3">
            <a:extLst>
              <a:ext uri="{FF2B5EF4-FFF2-40B4-BE49-F238E27FC236}">
                <a16:creationId xmlns:a16="http://schemas.microsoft.com/office/drawing/2014/main" id="{1863238D-B22F-B69A-6D3B-978E4F51ABE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732902439"/>
      </p:ext>
    </p:extLst>
  </p:cSld>
  <p:clrMapOvr>
    <a:masterClrMapping/>
  </p:clrMapOvr>
  <mc:AlternateContent xmlns:mc="http://schemas.openxmlformats.org/markup-compatibility/2006">
    <mc:Choice xmlns:p14="http://schemas.microsoft.com/office/powerpoint/2010/main" Requires="p14">
      <p:transition spd="slow" p14:dur="2000" advTm="7754"/>
    </mc:Choice>
    <mc:Fallback>
      <p:transition spd="slow" advTm="77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Safe String Copy Prevent Buffer Overflow? (STD-003-CPP)</a:t>
            </a:r>
            <a:endParaRPr dirty="0"/>
          </a:p>
        </p:txBody>
      </p:sp>
      <p:pic>
        <p:nvPicPr>
          <p:cNvPr id="197" name="Google Shape;197;g9504e29505_0_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Picture 2" descr="A screen shot of a computer program&#10;&#10;AI-generated content may be incorrect.">
            <a:extLst>
              <a:ext uri="{FF2B5EF4-FFF2-40B4-BE49-F238E27FC236}">
                <a16:creationId xmlns:a16="http://schemas.microsoft.com/office/drawing/2014/main" id="{BCE21C14-33EE-E8CD-A4F8-BC5BDD4C526D}"/>
              </a:ext>
            </a:extLst>
          </p:cNvPr>
          <p:cNvPicPr>
            <a:picLocks noChangeAspect="1"/>
          </p:cNvPicPr>
          <p:nvPr/>
        </p:nvPicPr>
        <p:blipFill>
          <a:blip r:embed="rId7"/>
          <a:stretch>
            <a:fillRect/>
          </a:stretch>
        </p:blipFill>
        <p:spPr>
          <a:xfrm>
            <a:off x="863600" y="2057373"/>
            <a:ext cx="7691628" cy="3528441"/>
          </a:xfrm>
          <a:prstGeom prst="rect">
            <a:avLst/>
          </a:prstGeom>
        </p:spPr>
      </p:pic>
      <p:pic>
        <p:nvPicPr>
          <p:cNvPr id="7" name="Picture 6">
            <a:extLst>
              <a:ext uri="{FF2B5EF4-FFF2-40B4-BE49-F238E27FC236}">
                <a16:creationId xmlns:a16="http://schemas.microsoft.com/office/drawing/2014/main" id="{865B14A3-6BA2-99EC-214A-A61214AABDF4}"/>
              </a:ext>
            </a:extLst>
          </p:cNvPr>
          <p:cNvPicPr>
            <a:picLocks noChangeAspect="1"/>
          </p:cNvPicPr>
          <p:nvPr/>
        </p:nvPicPr>
        <p:blipFill>
          <a:blip r:embed="rId8"/>
          <a:stretch>
            <a:fillRect/>
          </a:stretch>
        </p:blipFill>
        <p:spPr>
          <a:xfrm>
            <a:off x="863600" y="5585814"/>
            <a:ext cx="7569200" cy="520700"/>
          </a:xfrm>
          <a:prstGeom prst="rect">
            <a:avLst/>
          </a:prstGeom>
        </p:spPr>
      </p:pic>
      <p:pic>
        <p:nvPicPr>
          <p:cNvPr id="4" name="Audio 3">
            <a:extLst>
              <a:ext uri="{FF2B5EF4-FFF2-40B4-BE49-F238E27FC236}">
                <a16:creationId xmlns:a16="http://schemas.microsoft.com/office/drawing/2014/main" id="{7E9F6F6E-724D-7297-C59F-4845D6AC5562}"/>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8650"/>
    </mc:Choice>
    <mc:Fallback>
      <p:transition spd="slow" advTm="28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5995A-7833-13AE-6F1A-E542B799BC39}"/>
              </a:ext>
            </a:extLst>
          </p:cNvPr>
          <p:cNvSpPr>
            <a:spLocks noGrp="1"/>
          </p:cNvSpPr>
          <p:nvPr>
            <p:ph type="title"/>
          </p:nvPr>
        </p:nvSpPr>
        <p:spPr/>
        <p:txBody>
          <a:bodyPr/>
          <a:lstStyle/>
          <a:p>
            <a:r>
              <a:rPr lang="en-US" dirty="0"/>
              <a:t>Does Input Validation Block Path Traversal Attacks? (STD- 008-CPP)</a:t>
            </a:r>
          </a:p>
        </p:txBody>
      </p:sp>
      <p:pic>
        <p:nvPicPr>
          <p:cNvPr id="5" name="Picture 4" descr="A screen shot of a computer program&#10;&#10;AI-generated content may be incorrect.">
            <a:extLst>
              <a:ext uri="{FF2B5EF4-FFF2-40B4-BE49-F238E27FC236}">
                <a16:creationId xmlns:a16="http://schemas.microsoft.com/office/drawing/2014/main" id="{56B7E5A6-6848-28A4-7EDE-4045442B1ED3}"/>
              </a:ext>
            </a:extLst>
          </p:cNvPr>
          <p:cNvPicPr>
            <a:picLocks noChangeAspect="1"/>
          </p:cNvPicPr>
          <p:nvPr/>
        </p:nvPicPr>
        <p:blipFill>
          <a:blip r:embed="rId5"/>
          <a:stretch>
            <a:fillRect/>
          </a:stretch>
        </p:blipFill>
        <p:spPr>
          <a:xfrm>
            <a:off x="1172714" y="2336800"/>
            <a:ext cx="8867775" cy="3211068"/>
          </a:xfrm>
          <a:prstGeom prst="rect">
            <a:avLst/>
          </a:prstGeom>
        </p:spPr>
      </p:pic>
      <p:pic>
        <p:nvPicPr>
          <p:cNvPr id="7" name="Picture 6">
            <a:extLst>
              <a:ext uri="{FF2B5EF4-FFF2-40B4-BE49-F238E27FC236}">
                <a16:creationId xmlns:a16="http://schemas.microsoft.com/office/drawing/2014/main" id="{788D3008-93E7-479C-9E4C-135337FC805B}"/>
              </a:ext>
            </a:extLst>
          </p:cNvPr>
          <p:cNvPicPr>
            <a:picLocks noChangeAspect="1"/>
          </p:cNvPicPr>
          <p:nvPr/>
        </p:nvPicPr>
        <p:blipFill>
          <a:blip r:embed="rId6"/>
          <a:stretch>
            <a:fillRect/>
          </a:stretch>
        </p:blipFill>
        <p:spPr>
          <a:xfrm>
            <a:off x="1172715" y="5547868"/>
            <a:ext cx="9283700" cy="508000"/>
          </a:xfrm>
          <a:prstGeom prst="rect">
            <a:avLst/>
          </a:prstGeom>
        </p:spPr>
      </p:pic>
      <p:pic>
        <p:nvPicPr>
          <p:cNvPr id="4" name="Audio 3">
            <a:extLst>
              <a:ext uri="{FF2B5EF4-FFF2-40B4-BE49-F238E27FC236}">
                <a16:creationId xmlns:a16="http://schemas.microsoft.com/office/drawing/2014/main" id="{8816DF3B-021D-2E41-86D8-FC88F6C3EF2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183933518"/>
      </p:ext>
    </p:extLst>
  </p:cSld>
  <p:clrMapOvr>
    <a:masterClrMapping/>
  </p:clrMapOvr>
  <mc:AlternateContent xmlns:mc="http://schemas.openxmlformats.org/markup-compatibility/2006">
    <mc:Choice xmlns:p14="http://schemas.microsoft.com/office/powerpoint/2010/main" Requires="p14">
      <p:transition spd="slow" p14:dur="2000" advTm="34613"/>
    </mc:Choice>
    <mc:Fallback>
      <p:transition spd="slow" advTm="346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4975C-6E89-7183-9B2D-7DC86DCA0403}"/>
              </a:ext>
            </a:extLst>
          </p:cNvPr>
          <p:cNvSpPr>
            <a:spLocks noGrp="1"/>
          </p:cNvSpPr>
          <p:nvPr>
            <p:ph type="title"/>
          </p:nvPr>
        </p:nvSpPr>
        <p:spPr/>
        <p:txBody>
          <a:bodyPr>
            <a:normAutofit fontScale="90000"/>
          </a:bodyPr>
          <a:lstStyle/>
          <a:p>
            <a:r>
              <a:rPr lang="en-US" dirty="0"/>
              <a:t>Does Pre-Calculation Validation Detect Integer Overflow? </a:t>
            </a:r>
            <a:br>
              <a:rPr lang="en-US" dirty="0"/>
            </a:br>
            <a:r>
              <a:rPr lang="en-US" dirty="0"/>
              <a:t>(STD-009-CPP)</a:t>
            </a:r>
          </a:p>
        </p:txBody>
      </p:sp>
      <p:pic>
        <p:nvPicPr>
          <p:cNvPr id="5" name="Picture 4" descr="A screen shot of a computer program&#10;&#10;AI-generated content may be incorrect.">
            <a:extLst>
              <a:ext uri="{FF2B5EF4-FFF2-40B4-BE49-F238E27FC236}">
                <a16:creationId xmlns:a16="http://schemas.microsoft.com/office/drawing/2014/main" id="{DBC509AC-1ACC-DFC4-3CD3-2C7CA933FE11}"/>
              </a:ext>
            </a:extLst>
          </p:cNvPr>
          <p:cNvPicPr>
            <a:picLocks noChangeAspect="1"/>
          </p:cNvPicPr>
          <p:nvPr/>
        </p:nvPicPr>
        <p:blipFill>
          <a:blip r:embed="rId5"/>
          <a:stretch>
            <a:fillRect/>
          </a:stretch>
        </p:blipFill>
        <p:spPr>
          <a:xfrm>
            <a:off x="1062726" y="2241550"/>
            <a:ext cx="9299448" cy="3491961"/>
          </a:xfrm>
          <a:prstGeom prst="rect">
            <a:avLst/>
          </a:prstGeom>
        </p:spPr>
      </p:pic>
      <p:pic>
        <p:nvPicPr>
          <p:cNvPr id="7" name="Picture 6">
            <a:extLst>
              <a:ext uri="{FF2B5EF4-FFF2-40B4-BE49-F238E27FC236}">
                <a16:creationId xmlns:a16="http://schemas.microsoft.com/office/drawing/2014/main" id="{112CF3A1-CBB4-5859-6C93-4C0FFFB75BA2}"/>
              </a:ext>
            </a:extLst>
          </p:cNvPr>
          <p:cNvPicPr>
            <a:picLocks noChangeAspect="1"/>
          </p:cNvPicPr>
          <p:nvPr/>
        </p:nvPicPr>
        <p:blipFill>
          <a:blip r:embed="rId6"/>
          <a:stretch>
            <a:fillRect/>
          </a:stretch>
        </p:blipFill>
        <p:spPr>
          <a:xfrm>
            <a:off x="1062726" y="5661827"/>
            <a:ext cx="7556500" cy="431800"/>
          </a:xfrm>
          <a:prstGeom prst="rect">
            <a:avLst/>
          </a:prstGeom>
        </p:spPr>
      </p:pic>
      <p:pic>
        <p:nvPicPr>
          <p:cNvPr id="4" name="Audio 3">
            <a:extLst>
              <a:ext uri="{FF2B5EF4-FFF2-40B4-BE49-F238E27FC236}">
                <a16:creationId xmlns:a16="http://schemas.microsoft.com/office/drawing/2014/main" id="{DAC92AD2-0813-3B49-C21C-5D77740D5C0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89963631"/>
      </p:ext>
    </p:extLst>
  </p:cSld>
  <p:clrMapOvr>
    <a:masterClrMapping/>
  </p:clrMapOvr>
  <mc:AlternateContent xmlns:mc="http://schemas.openxmlformats.org/markup-compatibility/2006">
    <mc:Choice xmlns:p14="http://schemas.microsoft.com/office/powerpoint/2010/main" Requires="p14">
      <p:transition spd="slow" p14:dur="2000" advTm="32565"/>
    </mc:Choice>
    <mc:Fallback>
      <p:transition spd="slow" advTm="325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4505D-BA1D-724C-6342-D7A965A0D155}"/>
              </a:ext>
            </a:extLst>
          </p:cNvPr>
          <p:cNvSpPr>
            <a:spLocks noGrp="1"/>
          </p:cNvSpPr>
          <p:nvPr>
            <p:ph type="title"/>
          </p:nvPr>
        </p:nvSpPr>
        <p:spPr/>
        <p:txBody>
          <a:bodyPr/>
          <a:lstStyle/>
          <a:p>
            <a:r>
              <a:rPr lang="en-US" dirty="0"/>
              <a:t>Are Null Pointers Caught Before Dereferencing? (STD-010-CPP)</a:t>
            </a:r>
          </a:p>
        </p:txBody>
      </p:sp>
      <p:pic>
        <p:nvPicPr>
          <p:cNvPr id="5" name="Picture 4">
            <a:extLst>
              <a:ext uri="{FF2B5EF4-FFF2-40B4-BE49-F238E27FC236}">
                <a16:creationId xmlns:a16="http://schemas.microsoft.com/office/drawing/2014/main" id="{DACAB189-9FF4-A37E-9861-CD1E99702274}"/>
              </a:ext>
            </a:extLst>
          </p:cNvPr>
          <p:cNvPicPr>
            <a:picLocks noChangeAspect="1"/>
          </p:cNvPicPr>
          <p:nvPr/>
        </p:nvPicPr>
        <p:blipFill>
          <a:blip r:embed="rId5"/>
          <a:stretch>
            <a:fillRect/>
          </a:stretch>
        </p:blipFill>
        <p:spPr>
          <a:xfrm>
            <a:off x="1358900" y="5699927"/>
            <a:ext cx="6845300" cy="393700"/>
          </a:xfrm>
          <a:prstGeom prst="rect">
            <a:avLst/>
          </a:prstGeom>
        </p:spPr>
      </p:pic>
      <p:pic>
        <p:nvPicPr>
          <p:cNvPr id="7" name="Picture 6" descr="A screen shot of a computer program&#10;&#10;AI-generated content may be incorrect.">
            <a:extLst>
              <a:ext uri="{FF2B5EF4-FFF2-40B4-BE49-F238E27FC236}">
                <a16:creationId xmlns:a16="http://schemas.microsoft.com/office/drawing/2014/main" id="{3F377BBA-6312-411F-2E86-3D5587CA72C8}"/>
              </a:ext>
            </a:extLst>
          </p:cNvPr>
          <p:cNvPicPr>
            <a:picLocks noChangeAspect="1"/>
          </p:cNvPicPr>
          <p:nvPr/>
        </p:nvPicPr>
        <p:blipFill>
          <a:blip r:embed="rId6"/>
          <a:stretch>
            <a:fillRect/>
          </a:stretch>
        </p:blipFill>
        <p:spPr>
          <a:xfrm>
            <a:off x="1358900" y="2057401"/>
            <a:ext cx="8610599" cy="3556552"/>
          </a:xfrm>
          <a:prstGeom prst="rect">
            <a:avLst/>
          </a:prstGeom>
        </p:spPr>
      </p:pic>
      <p:pic>
        <p:nvPicPr>
          <p:cNvPr id="4" name="Audio 3">
            <a:extLst>
              <a:ext uri="{FF2B5EF4-FFF2-40B4-BE49-F238E27FC236}">
                <a16:creationId xmlns:a16="http://schemas.microsoft.com/office/drawing/2014/main" id="{AB64023F-162D-33FD-6E68-597E2ABC07C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56923096"/>
      </p:ext>
    </p:extLst>
  </p:cSld>
  <p:clrMapOvr>
    <a:masterClrMapping/>
  </p:clrMapOvr>
  <mc:AlternateContent xmlns:mc="http://schemas.openxmlformats.org/markup-compatibility/2006">
    <mc:Choice xmlns:p14="http://schemas.microsoft.com/office/powerpoint/2010/main" Requires="p14">
      <p:transition spd="slow" p14:dur="2000" advTm="30165"/>
    </mc:Choice>
    <mc:Fallback>
      <p:transition spd="slow" advTm="301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3928D-987B-37BE-96A4-926AC44CCAF5}"/>
              </a:ext>
            </a:extLst>
          </p:cNvPr>
          <p:cNvSpPr>
            <a:spLocks noGrp="1"/>
          </p:cNvSpPr>
          <p:nvPr>
            <p:ph type="title"/>
          </p:nvPr>
        </p:nvSpPr>
        <p:spPr/>
        <p:txBody>
          <a:bodyPr>
            <a:normAutofit fontScale="90000"/>
          </a:bodyPr>
          <a:lstStyle/>
          <a:p>
            <a:r>
              <a:rPr lang="en-US" dirty="0"/>
              <a:t>Does Range Validation Prevent Out-of-Bounds Access? (STD-002-CPP)</a:t>
            </a:r>
          </a:p>
        </p:txBody>
      </p:sp>
      <p:pic>
        <p:nvPicPr>
          <p:cNvPr id="5" name="Picture 4" descr="A screen shot of a computer&#10;&#10;AI-generated content may be incorrect.">
            <a:extLst>
              <a:ext uri="{FF2B5EF4-FFF2-40B4-BE49-F238E27FC236}">
                <a16:creationId xmlns:a16="http://schemas.microsoft.com/office/drawing/2014/main" id="{5A4AA7FF-F5CF-FB67-CAE3-2149309FF471}"/>
              </a:ext>
            </a:extLst>
          </p:cNvPr>
          <p:cNvPicPr>
            <a:picLocks noChangeAspect="1"/>
          </p:cNvPicPr>
          <p:nvPr/>
        </p:nvPicPr>
        <p:blipFill>
          <a:blip r:embed="rId5"/>
          <a:stretch>
            <a:fillRect/>
          </a:stretch>
        </p:blipFill>
        <p:spPr>
          <a:xfrm>
            <a:off x="1142999" y="2139950"/>
            <a:ext cx="8905113" cy="3789807"/>
          </a:xfrm>
          <a:prstGeom prst="rect">
            <a:avLst/>
          </a:prstGeom>
        </p:spPr>
      </p:pic>
      <p:pic>
        <p:nvPicPr>
          <p:cNvPr id="7" name="Picture 6">
            <a:extLst>
              <a:ext uri="{FF2B5EF4-FFF2-40B4-BE49-F238E27FC236}">
                <a16:creationId xmlns:a16="http://schemas.microsoft.com/office/drawing/2014/main" id="{90E82A09-7A73-38D2-7D30-D3DC77235172}"/>
              </a:ext>
            </a:extLst>
          </p:cNvPr>
          <p:cNvPicPr>
            <a:picLocks noChangeAspect="1"/>
          </p:cNvPicPr>
          <p:nvPr/>
        </p:nvPicPr>
        <p:blipFill>
          <a:blip r:embed="rId6"/>
          <a:stretch>
            <a:fillRect/>
          </a:stretch>
        </p:blipFill>
        <p:spPr>
          <a:xfrm>
            <a:off x="1142999" y="5929757"/>
            <a:ext cx="7696200" cy="368300"/>
          </a:xfrm>
          <a:prstGeom prst="rect">
            <a:avLst/>
          </a:prstGeom>
        </p:spPr>
      </p:pic>
      <p:pic>
        <p:nvPicPr>
          <p:cNvPr id="4" name="Audio 3">
            <a:extLst>
              <a:ext uri="{FF2B5EF4-FFF2-40B4-BE49-F238E27FC236}">
                <a16:creationId xmlns:a16="http://schemas.microsoft.com/office/drawing/2014/main" id="{A1358978-C9D2-BF2A-62E6-F16F545FCAB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16564332"/>
      </p:ext>
    </p:extLst>
  </p:cSld>
  <p:clrMapOvr>
    <a:masterClrMapping/>
  </p:clrMapOvr>
  <mc:AlternateContent xmlns:mc="http://schemas.openxmlformats.org/markup-compatibility/2006">
    <mc:Choice xmlns:p14="http://schemas.microsoft.com/office/powerpoint/2010/main" Requires="p14">
      <p:transition spd="slow" p14:dur="2000" advTm="29482"/>
    </mc:Choice>
    <mc:Fallback>
      <p:transition spd="slow" advTm="294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AD02A-000B-40F6-4F1B-22C090AE4ED8}"/>
              </a:ext>
            </a:extLst>
          </p:cNvPr>
          <p:cNvSpPr>
            <a:spLocks noGrp="1"/>
          </p:cNvSpPr>
          <p:nvPr>
            <p:ph type="title"/>
          </p:nvPr>
        </p:nvSpPr>
        <p:spPr/>
        <p:txBody>
          <a:bodyPr>
            <a:normAutofit fontScale="90000"/>
          </a:bodyPr>
          <a:lstStyle/>
          <a:p>
            <a:r>
              <a:rPr lang="en-US" dirty="0"/>
              <a:t>Do Multiple Security Standards Work Together? (STD-008-CPP, STD-009-CPP, STD-010-CPP)</a:t>
            </a:r>
          </a:p>
        </p:txBody>
      </p:sp>
      <p:pic>
        <p:nvPicPr>
          <p:cNvPr id="5" name="Picture 4">
            <a:extLst>
              <a:ext uri="{FF2B5EF4-FFF2-40B4-BE49-F238E27FC236}">
                <a16:creationId xmlns:a16="http://schemas.microsoft.com/office/drawing/2014/main" id="{05ED4672-C75B-2F98-9272-AADFD80B134F}"/>
              </a:ext>
            </a:extLst>
          </p:cNvPr>
          <p:cNvPicPr>
            <a:picLocks noChangeAspect="1"/>
          </p:cNvPicPr>
          <p:nvPr/>
        </p:nvPicPr>
        <p:blipFill>
          <a:blip r:embed="rId5"/>
          <a:stretch>
            <a:fillRect/>
          </a:stretch>
        </p:blipFill>
        <p:spPr>
          <a:xfrm>
            <a:off x="1620219" y="5910208"/>
            <a:ext cx="7772400" cy="366838"/>
          </a:xfrm>
          <a:prstGeom prst="rect">
            <a:avLst/>
          </a:prstGeom>
        </p:spPr>
      </p:pic>
      <p:pic>
        <p:nvPicPr>
          <p:cNvPr id="7" name="Picture 6" descr="A computer screen shot of a program&#10;&#10;AI-generated content may be incorrect.">
            <a:extLst>
              <a:ext uri="{FF2B5EF4-FFF2-40B4-BE49-F238E27FC236}">
                <a16:creationId xmlns:a16="http://schemas.microsoft.com/office/drawing/2014/main" id="{7642DCD7-B9E1-28F7-AAA8-7059AE9327D7}"/>
              </a:ext>
            </a:extLst>
          </p:cNvPr>
          <p:cNvPicPr>
            <a:picLocks noChangeAspect="1"/>
          </p:cNvPicPr>
          <p:nvPr/>
        </p:nvPicPr>
        <p:blipFill>
          <a:blip r:embed="rId6"/>
          <a:stretch>
            <a:fillRect/>
          </a:stretch>
        </p:blipFill>
        <p:spPr>
          <a:xfrm>
            <a:off x="1620219" y="2057401"/>
            <a:ext cx="7467600" cy="3852807"/>
          </a:xfrm>
          <a:prstGeom prst="rect">
            <a:avLst/>
          </a:prstGeom>
        </p:spPr>
      </p:pic>
      <p:pic>
        <p:nvPicPr>
          <p:cNvPr id="4" name="Audio 3">
            <a:extLst>
              <a:ext uri="{FF2B5EF4-FFF2-40B4-BE49-F238E27FC236}">
                <a16:creationId xmlns:a16="http://schemas.microsoft.com/office/drawing/2014/main" id="{613BF0FA-18D8-E29D-9649-65520CCE100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798061929"/>
      </p:ext>
    </p:extLst>
  </p:cSld>
  <p:clrMapOvr>
    <a:masterClrMapping/>
  </p:clrMapOvr>
  <mc:AlternateContent xmlns:mc="http://schemas.openxmlformats.org/markup-compatibility/2006">
    <mc:Choice xmlns:p14="http://schemas.microsoft.com/office/powerpoint/2010/main" Requires="p14">
      <p:transition spd="slow" p14:dur="2000" advTm="31840"/>
    </mc:Choice>
    <mc:Fallback>
      <p:transition spd="slow" advTm="31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3" name="Audio 2">
            <a:extLst>
              <a:ext uri="{FF2B5EF4-FFF2-40B4-BE49-F238E27FC236}">
                <a16:creationId xmlns:a16="http://schemas.microsoft.com/office/drawing/2014/main" id="{728D2F22-A871-2C51-C5FC-40C4032FA8DB}"/>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024"/>
    </mc:Choice>
    <mc:Fallback>
      <p:transition spd="slow" advTm="50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lt1"/>
              </a:buClr>
              <a:buSzPts val="2000"/>
              <a:buChar char="•"/>
            </a:pPr>
            <a:r>
              <a:rPr lang="en-US" b="1" dirty="0" err="1"/>
              <a:t>DevSecOps</a:t>
            </a:r>
            <a:r>
              <a:rPr lang="en-US" b="1" dirty="0"/>
              <a:t> Pipeline</a:t>
            </a:r>
          </a:p>
          <a:p>
            <a:pPr marL="1143000" lvl="2" indent="-228600">
              <a:spcBef>
                <a:spcPts val="0"/>
              </a:spcBef>
              <a:buSzPts val="2000"/>
            </a:pPr>
            <a:r>
              <a:rPr lang="en-US" dirty="0"/>
              <a:t>Operates as a continuous figure-eight cycle where security is integrated at every stage rather than added at the end. This approach embeds security automation throughout the entire development lifecycle, creating multiple checkpoints to catch vulnerabilities early </a:t>
            </a:r>
          </a:p>
          <a:p>
            <a:pPr marL="685800" lvl="1" indent="-228600">
              <a:spcBef>
                <a:spcPts val="0"/>
              </a:spcBef>
              <a:buSzPts val="2000"/>
            </a:pPr>
            <a:r>
              <a:rPr lang="en-US" sz="1800" b="1" dirty="0"/>
              <a:t>External Tools and where they fit</a:t>
            </a:r>
          </a:p>
          <a:p>
            <a:pPr marL="1143000" lvl="2" indent="-228600">
              <a:spcBef>
                <a:spcPts val="0"/>
              </a:spcBef>
              <a:buSzPts val="2000"/>
            </a:pPr>
            <a:r>
              <a:rPr lang="en-US" sz="1600" b="1" dirty="0"/>
              <a:t>Build</a:t>
            </a:r>
          </a:p>
          <a:p>
            <a:pPr marL="1600200" lvl="3" indent="-228600">
              <a:spcBef>
                <a:spcPts val="0"/>
              </a:spcBef>
              <a:buSzPts val="2000"/>
            </a:pPr>
            <a:r>
              <a:rPr lang="en-US" sz="1400" dirty="0"/>
              <a:t>Static analysis tools (SonarQube, Clang, Coverity, </a:t>
            </a:r>
            <a:r>
              <a:rPr lang="en-US" sz="1400" dirty="0" err="1"/>
              <a:t>Cppcheck</a:t>
            </a:r>
            <a:r>
              <a:rPr lang="en-US" sz="1400" dirty="0"/>
              <a:t>) scan every pull request and block merges for violations.</a:t>
            </a:r>
          </a:p>
          <a:p>
            <a:pPr marL="1143000" lvl="2" indent="-228600">
              <a:spcBef>
                <a:spcPts val="0"/>
              </a:spcBef>
              <a:buSzPts val="2000"/>
            </a:pPr>
            <a:r>
              <a:rPr lang="en-US" sz="1600" b="1" dirty="0"/>
              <a:t>Verify &amp; Test</a:t>
            </a:r>
          </a:p>
          <a:p>
            <a:pPr marL="1600200" lvl="3" indent="-228600">
              <a:spcBef>
                <a:spcPts val="0"/>
              </a:spcBef>
              <a:buSzPts val="2000"/>
            </a:pPr>
            <a:r>
              <a:rPr lang="en-US" sz="1400" dirty="0"/>
              <a:t>Runtime analyzers (</a:t>
            </a:r>
            <a:r>
              <a:rPr lang="en-US" sz="1400" dirty="0" err="1"/>
              <a:t>AddressSanitizer</a:t>
            </a:r>
            <a:r>
              <a:rPr lang="en-US" sz="1400" dirty="0"/>
              <a:t>, </a:t>
            </a:r>
            <a:r>
              <a:rPr lang="en-US" sz="1400" dirty="0" err="1"/>
              <a:t>Valgrind</a:t>
            </a:r>
            <a:r>
              <a:rPr lang="en-US" sz="1400" dirty="0"/>
              <a:t>) detect memory issues during execution.</a:t>
            </a:r>
          </a:p>
          <a:p>
            <a:pPr marL="1143000" lvl="2" indent="-228600">
              <a:spcBef>
                <a:spcPts val="0"/>
              </a:spcBef>
              <a:buSzPts val="2000"/>
            </a:pPr>
            <a:r>
              <a:rPr lang="en-US" sz="1600" b="1" dirty="0"/>
              <a:t>Transition</a:t>
            </a:r>
          </a:p>
          <a:p>
            <a:pPr marL="1600200" lvl="3" indent="-228600">
              <a:spcBef>
                <a:spcPts val="0"/>
              </a:spcBef>
              <a:buSzPts val="2000"/>
            </a:pPr>
            <a:r>
              <a:rPr lang="en-US" sz="1400" dirty="0"/>
              <a:t>Final security scans and code signing verify compliance before deployment.</a:t>
            </a:r>
          </a:p>
          <a:p>
            <a:pPr marL="1143000" lvl="2" indent="-228600">
              <a:spcBef>
                <a:spcPts val="0"/>
              </a:spcBef>
              <a:buSzPts val="2000"/>
            </a:pPr>
            <a:r>
              <a:rPr lang="en-US" sz="1600" b="1" dirty="0"/>
              <a:t>Monitor &amp; Detect</a:t>
            </a:r>
          </a:p>
          <a:p>
            <a:pPr marL="1600200" lvl="3" indent="-228600">
              <a:spcBef>
                <a:spcPts val="0"/>
              </a:spcBef>
              <a:buSzPts val="2000"/>
            </a:pPr>
            <a:r>
              <a:rPr lang="en-US" sz="1400" dirty="0"/>
              <a:t>RASP and WAF detect exploitation attempts in production.</a:t>
            </a:r>
          </a:p>
          <a:p>
            <a:pPr marL="1143000" lvl="2" indent="-228600">
              <a:spcBef>
                <a:spcPts val="0"/>
              </a:spcBef>
              <a:buSzPts val="2000"/>
            </a:pPr>
            <a:r>
              <a:rPr lang="en-US" sz="1600" b="1" dirty="0"/>
              <a:t>Maintain &amp; Stabilize</a:t>
            </a:r>
          </a:p>
          <a:p>
            <a:pPr marL="1600200" lvl="3" indent="-228600">
              <a:spcBef>
                <a:spcPts val="0"/>
              </a:spcBef>
              <a:buSzPts val="2000"/>
            </a:pPr>
            <a:r>
              <a:rPr lang="en-US" sz="1400" dirty="0"/>
              <a:t>Automated dashboards track compliance metrics and security debt.</a:t>
            </a:r>
          </a:p>
        </p:txBody>
      </p:sp>
      <p:pic>
        <p:nvPicPr>
          <p:cNvPr id="211" name="Google Shape;211;p1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Audio 2">
            <a:extLst>
              <a:ext uri="{FF2B5EF4-FFF2-40B4-BE49-F238E27FC236}">
                <a16:creationId xmlns:a16="http://schemas.microsoft.com/office/drawing/2014/main" id="{2B95E5D1-AF28-A303-78F2-381534745687}"/>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75168"/>
    </mc:Choice>
    <mc:Fallback>
      <p:transition spd="slow" advTm="751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000"/>
              <a:buChar char="•"/>
            </a:pPr>
            <a:r>
              <a:rPr lang="en-US" sz="1800" b="1" dirty="0"/>
              <a:t>Problems</a:t>
            </a:r>
          </a:p>
          <a:p>
            <a:pPr marL="685800" lvl="1" indent="-228600">
              <a:spcBef>
                <a:spcPts val="0"/>
              </a:spcBef>
              <a:buSzPts val="2000"/>
            </a:pPr>
            <a:r>
              <a:rPr lang="en-US" sz="1500" dirty="0"/>
              <a:t>Legacy code contains undetected vulnerabilities from manual-only reviews</a:t>
            </a:r>
          </a:p>
          <a:p>
            <a:pPr marL="685800" lvl="1" indent="-228600">
              <a:spcBef>
                <a:spcPts val="0"/>
              </a:spcBef>
              <a:buSzPts val="2000"/>
            </a:pPr>
            <a:r>
              <a:rPr lang="en-US" sz="1500" dirty="0"/>
              <a:t>No automated enforcement of security standards before deployment</a:t>
            </a:r>
          </a:p>
          <a:p>
            <a:pPr marL="685800" lvl="1" indent="-228600">
              <a:spcBef>
                <a:spcPts val="0"/>
              </a:spcBef>
              <a:buSzPts val="2000"/>
            </a:pPr>
            <a:r>
              <a:rPr lang="en-US" sz="1500" dirty="0"/>
              <a:t>Security testing occurs too late in the development cycle</a:t>
            </a:r>
          </a:p>
          <a:p>
            <a:pPr marL="685800" lvl="1" indent="-228600">
              <a:spcBef>
                <a:spcPts val="0"/>
              </a:spcBef>
              <a:buSzPts val="2000"/>
            </a:pPr>
            <a:r>
              <a:rPr lang="en-US" sz="1500" dirty="0"/>
              <a:t>Inconsistent secure coding practices across development team</a:t>
            </a:r>
          </a:p>
          <a:p>
            <a:pPr marL="228600" indent="-228600">
              <a:spcBef>
                <a:spcPts val="0"/>
              </a:spcBef>
              <a:buSzPts val="2000"/>
            </a:pPr>
            <a:r>
              <a:rPr lang="en-US" sz="1800" b="1" dirty="0"/>
              <a:t>Solutions</a:t>
            </a:r>
          </a:p>
          <a:p>
            <a:pPr marL="685800" lvl="1" indent="-228600">
              <a:spcBef>
                <a:spcPts val="0"/>
              </a:spcBef>
              <a:buSzPts val="2000"/>
            </a:pPr>
            <a:r>
              <a:rPr lang="en-US" sz="1500" dirty="0"/>
              <a:t>Implement 10 coding standards with automated SAST tool enforcement</a:t>
            </a:r>
          </a:p>
          <a:p>
            <a:pPr marL="685800" lvl="1" indent="-228600">
              <a:spcBef>
                <a:spcPts val="0"/>
              </a:spcBef>
              <a:buSzPts val="2000"/>
            </a:pPr>
            <a:r>
              <a:rPr lang="en-US" sz="1500" dirty="0"/>
              <a:t>Integrate </a:t>
            </a:r>
            <a:r>
              <a:rPr lang="en-US" sz="1500" dirty="0" err="1"/>
              <a:t>DevSecOps</a:t>
            </a:r>
            <a:r>
              <a:rPr lang="en-US" sz="1500" dirty="0"/>
              <a:t> model with security at every development phase</a:t>
            </a:r>
          </a:p>
          <a:p>
            <a:pPr marL="685800" lvl="1" indent="-228600">
              <a:spcBef>
                <a:spcPts val="0"/>
              </a:spcBef>
              <a:buSzPts val="2000"/>
            </a:pPr>
            <a:r>
              <a:rPr lang="en-US" sz="1500" dirty="0"/>
              <a:t>Establish Triple-A framework and encryption policies across all systems</a:t>
            </a:r>
          </a:p>
          <a:p>
            <a:pPr marL="685800" lvl="1" indent="-228600">
              <a:spcBef>
                <a:spcPts val="0"/>
              </a:spcBef>
              <a:buSzPts val="2000"/>
            </a:pPr>
            <a:r>
              <a:rPr lang="en-US" sz="1500" dirty="0"/>
              <a:t>Require MFA, RBAC, and comprehensive logging for accountability</a:t>
            </a:r>
          </a:p>
          <a:p>
            <a:pPr marL="228600" indent="-228600">
              <a:spcBef>
                <a:spcPts val="0"/>
              </a:spcBef>
              <a:buSzPts val="2000"/>
            </a:pPr>
            <a:r>
              <a:rPr lang="en-US" sz="1800" b="1" dirty="0"/>
              <a:t>Benefits of Acting Now</a:t>
            </a:r>
          </a:p>
          <a:p>
            <a:pPr marL="685800" lvl="1" indent="-228600">
              <a:spcBef>
                <a:spcPts val="0"/>
              </a:spcBef>
              <a:buSzPts val="2000"/>
            </a:pPr>
            <a:r>
              <a:rPr lang="en-US" sz="1500" dirty="0"/>
              <a:t>Catch vulnerabilities during development when cheapest to fix</a:t>
            </a:r>
          </a:p>
          <a:p>
            <a:pPr marL="685800" lvl="1" indent="-228600">
              <a:spcBef>
                <a:spcPts val="0"/>
              </a:spcBef>
              <a:buSzPts val="2000"/>
            </a:pPr>
            <a:r>
              <a:rPr lang="en-US" sz="1500" dirty="0"/>
              <a:t>Build security culture into growing team before bad habits form</a:t>
            </a:r>
          </a:p>
          <a:p>
            <a:pPr marL="685800" lvl="1" indent="-228600">
              <a:spcBef>
                <a:spcPts val="0"/>
              </a:spcBef>
              <a:buSzPts val="2000"/>
            </a:pPr>
            <a:r>
              <a:rPr lang="en-US" sz="1500" dirty="0"/>
              <a:t>Automated tools scale with team growth without proportional cost increase</a:t>
            </a:r>
          </a:p>
          <a:p>
            <a:pPr marL="685800" lvl="1" indent="-228600">
              <a:spcBef>
                <a:spcPts val="0"/>
              </a:spcBef>
              <a:buSzPts val="2000"/>
            </a:pPr>
            <a:r>
              <a:rPr lang="en-US" sz="1500" dirty="0"/>
              <a:t>Protect client data and meet compliance requirements for audits</a:t>
            </a:r>
          </a:p>
          <a:p>
            <a:pPr marL="228600" lvl="0" indent="-228600" algn="l" rtl="0">
              <a:lnSpc>
                <a:spcPct val="90000"/>
              </a:lnSpc>
              <a:spcBef>
                <a:spcPts val="0"/>
              </a:spcBef>
              <a:spcAft>
                <a:spcPts val="0"/>
              </a:spcAft>
              <a:buClr>
                <a:schemeClr val="lt1"/>
              </a:buClr>
              <a:buSzPts val="2000"/>
              <a:buChar char="•"/>
            </a:pPr>
            <a:r>
              <a:rPr lang="en-US" sz="1800" b="1" dirty="0"/>
              <a:t>Risks of Waiting</a:t>
            </a:r>
          </a:p>
          <a:p>
            <a:pPr marL="685800" lvl="1" indent="-228600">
              <a:spcBef>
                <a:spcPts val="0"/>
              </a:spcBef>
              <a:buSzPts val="2000"/>
            </a:pPr>
            <a:r>
              <a:rPr lang="en-US" sz="1500" dirty="0"/>
              <a:t>Vulnerabilities compound as codebase grows, creating exponential remediation costs</a:t>
            </a:r>
          </a:p>
          <a:p>
            <a:pPr marL="685800" lvl="1" indent="-228600">
              <a:spcBef>
                <a:spcPts val="0"/>
              </a:spcBef>
              <a:buSzPts val="2000"/>
            </a:pPr>
            <a:r>
              <a:rPr lang="en-US" sz="1500" dirty="0"/>
              <a:t>Potential data breach damages client relationships and company reputation</a:t>
            </a:r>
          </a:p>
          <a:p>
            <a:pPr marL="685800" lvl="1" indent="-228600">
              <a:spcBef>
                <a:spcPts val="0"/>
              </a:spcBef>
              <a:buSzPts val="2000"/>
            </a:pPr>
            <a:r>
              <a:rPr lang="en-US" sz="1500" dirty="0"/>
              <a:t>Security debt becomes increasingly difficult to pay down</a:t>
            </a:r>
          </a:p>
          <a:p>
            <a:pPr marL="685800" lvl="1" indent="-228600">
              <a:spcBef>
                <a:spcPts val="0"/>
              </a:spcBef>
              <a:buSzPts val="2000"/>
            </a:pPr>
            <a:r>
              <a:rPr lang="en-US" sz="1500" dirty="0"/>
              <a:t>Competitors with stronger security posture win environmentally-conscious clients</a:t>
            </a:r>
            <a:endParaRPr sz="1500" dirty="0"/>
          </a:p>
        </p:txBody>
      </p:sp>
      <p:pic>
        <p:nvPicPr>
          <p:cNvPr id="218" name="Google Shape;218;p11"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Audio 2">
            <a:extLst>
              <a:ext uri="{FF2B5EF4-FFF2-40B4-BE49-F238E27FC236}">
                <a16:creationId xmlns:a16="http://schemas.microsoft.com/office/drawing/2014/main" id="{D26B233D-CD6D-98E2-A7FA-0B31714E502A}"/>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6069"/>
    </mc:Choice>
    <mc:Fallback>
      <p:transition spd="slow" advTm="660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200"/>
            </a:pPr>
            <a:r>
              <a:rPr lang="en-US" sz="1800" b="1" dirty="0"/>
              <a:t>Incident Response Plan</a:t>
            </a:r>
          </a:p>
          <a:p>
            <a:pPr marL="685800" lvl="1" indent="-228600">
              <a:spcBef>
                <a:spcPts val="0"/>
              </a:spcBef>
              <a:buSzPts val="2200"/>
            </a:pPr>
            <a:r>
              <a:rPr lang="en-US" sz="1600" dirty="0"/>
              <a:t>No formal process for responding to security incidents or breaches</a:t>
            </a:r>
          </a:p>
          <a:p>
            <a:pPr marL="685800" lvl="1" indent="-228600">
              <a:spcBef>
                <a:spcPts val="0"/>
              </a:spcBef>
              <a:buSzPts val="2200"/>
            </a:pPr>
            <a:r>
              <a:rPr lang="en-US" sz="1600" dirty="0"/>
              <a:t>Need documented procedures for containment, investigation, and recovery</a:t>
            </a:r>
          </a:p>
          <a:p>
            <a:pPr marL="685800" lvl="1" indent="-228600">
              <a:spcBef>
                <a:spcPts val="0"/>
              </a:spcBef>
              <a:buSzPts val="2200"/>
            </a:pPr>
            <a:r>
              <a:rPr lang="en-US" sz="1600" dirty="0"/>
              <a:t>Requires defined roles and communication protocols during incidents</a:t>
            </a:r>
          </a:p>
          <a:p>
            <a:pPr marL="228600" indent="-228600">
              <a:spcBef>
                <a:spcPts val="0"/>
              </a:spcBef>
              <a:buSzPts val="2200"/>
            </a:pPr>
            <a:r>
              <a:rPr lang="en-US" sz="1800" b="1" dirty="0"/>
              <a:t>Third-Party Risk Management</a:t>
            </a:r>
          </a:p>
          <a:p>
            <a:pPr marL="685800" lvl="1" indent="-228600">
              <a:spcBef>
                <a:spcPts val="0"/>
              </a:spcBef>
              <a:buSzPts val="2200"/>
            </a:pPr>
            <a:r>
              <a:rPr lang="en-US" sz="1600" dirty="0"/>
              <a:t>Missing policies for vetting third-party libraries and dependencies</a:t>
            </a:r>
          </a:p>
          <a:p>
            <a:pPr marL="685800" lvl="1" indent="-228600">
              <a:spcBef>
                <a:spcPts val="0"/>
              </a:spcBef>
              <a:buSzPts val="2200"/>
            </a:pPr>
            <a:r>
              <a:rPr lang="en-US" sz="1600" dirty="0"/>
              <a:t>No process for tracking known vulnerabilities in external components</a:t>
            </a:r>
          </a:p>
          <a:p>
            <a:pPr marL="685800" lvl="1" indent="-228600">
              <a:spcBef>
                <a:spcPts val="0"/>
              </a:spcBef>
              <a:buSzPts val="2200"/>
            </a:pPr>
            <a:r>
              <a:rPr lang="en-US" sz="1600" dirty="0"/>
              <a:t>Need guidelines for evaluating security of vendor integrations</a:t>
            </a:r>
          </a:p>
          <a:p>
            <a:pPr marL="228600" lvl="0" indent="-228600">
              <a:spcBef>
                <a:spcPts val="0"/>
              </a:spcBef>
              <a:buSzPts val="2200"/>
            </a:pPr>
            <a:r>
              <a:rPr lang="en-US" sz="1800" b="1" dirty="0"/>
              <a:t>Security Training Program</a:t>
            </a:r>
          </a:p>
          <a:p>
            <a:pPr marL="685800" lvl="1" indent="-228600">
              <a:spcBef>
                <a:spcPts val="0"/>
              </a:spcBef>
              <a:buSzPts val="2200"/>
            </a:pPr>
            <a:r>
              <a:rPr lang="en-US" sz="1600" dirty="0"/>
              <a:t>Lack of mandatory secure coding training for new developers</a:t>
            </a:r>
          </a:p>
          <a:p>
            <a:pPr marL="685800" lvl="1" indent="-228600">
              <a:spcBef>
                <a:spcPts val="0"/>
              </a:spcBef>
              <a:buSzPts val="2200"/>
            </a:pPr>
            <a:r>
              <a:rPr lang="en-US" sz="1600" dirty="0"/>
              <a:t>No ongoing education program for emerging threats and vulnerabilities</a:t>
            </a:r>
          </a:p>
          <a:p>
            <a:pPr marL="685800" lvl="1" indent="-228600">
              <a:spcBef>
                <a:spcPts val="0"/>
              </a:spcBef>
              <a:buSzPts val="2200"/>
            </a:pPr>
            <a:r>
              <a:rPr lang="en-US" sz="1600" dirty="0"/>
              <a:t>Need regular security awareness training for all technical staff</a:t>
            </a:r>
          </a:p>
          <a:p>
            <a:pPr marL="228600" lvl="0" indent="-228600">
              <a:spcBef>
                <a:spcPts val="0"/>
              </a:spcBef>
              <a:buSzPts val="2200"/>
            </a:pPr>
            <a:r>
              <a:rPr lang="en-US" sz="1800" b="1" dirty="0"/>
              <a:t>Penetration Testing Schedule</a:t>
            </a:r>
          </a:p>
          <a:p>
            <a:pPr marL="685800" lvl="1" indent="-228600">
              <a:spcBef>
                <a:spcPts val="0"/>
              </a:spcBef>
              <a:buSzPts val="2200"/>
            </a:pPr>
            <a:r>
              <a:rPr lang="en-US" sz="1600" dirty="0"/>
              <a:t>No regular penetration testing or red team exercises defined</a:t>
            </a:r>
          </a:p>
          <a:p>
            <a:pPr marL="685800" lvl="1" indent="-228600">
              <a:spcBef>
                <a:spcPts val="0"/>
              </a:spcBef>
              <a:buSzPts val="2200"/>
            </a:pPr>
            <a:r>
              <a:rPr lang="en-US" sz="1600" dirty="0"/>
              <a:t>Missing process for validating that coding standards actually prevent exploits</a:t>
            </a:r>
          </a:p>
          <a:p>
            <a:pPr marL="685800" lvl="1" indent="-228600">
              <a:spcBef>
                <a:spcPts val="0"/>
              </a:spcBef>
              <a:buSzPts val="2200"/>
            </a:pPr>
            <a:r>
              <a:rPr lang="en-US" sz="1600" dirty="0"/>
              <a:t>Need scheduled external security assessments</a:t>
            </a:r>
          </a:p>
          <a:p>
            <a:pPr marL="228600" lvl="0" indent="-88900">
              <a:buSzPts val="2200"/>
              <a:buNone/>
            </a:pPr>
            <a:endParaRPr lang="en-US" dirty="0"/>
          </a:p>
        </p:txBody>
      </p:sp>
      <p:pic>
        <p:nvPicPr>
          <p:cNvPr id="225" name="Google Shape;225;p12"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Audio 2">
            <a:extLst>
              <a:ext uri="{FF2B5EF4-FFF2-40B4-BE49-F238E27FC236}">
                <a16:creationId xmlns:a16="http://schemas.microsoft.com/office/drawing/2014/main" id="{58AD94CC-CA81-C67E-E483-A19416DF9F9B}"/>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4122"/>
    </mc:Choice>
    <mc:Fallback>
      <p:transition spd="slow" advTm="341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482600">
              <a:buSzPts val="2200"/>
            </a:pPr>
            <a:r>
              <a:rPr lang="en-US" dirty="0"/>
              <a:t>Align coding standards with evolving OWASP vulnerabilities</a:t>
            </a:r>
          </a:p>
          <a:p>
            <a:pPr marL="482600">
              <a:buSzPts val="2200"/>
            </a:pPr>
            <a:r>
              <a:rPr lang="en-US" dirty="0"/>
              <a:t>Integrate OWASP dependency checking into build pipeline</a:t>
            </a:r>
          </a:p>
          <a:p>
            <a:pPr marL="482600">
              <a:buSzPts val="2200"/>
            </a:pPr>
            <a:r>
              <a:rPr lang="en-US" dirty="0"/>
              <a:t>Adopt SLSA framework and software bill of materials</a:t>
            </a:r>
          </a:p>
          <a:p>
            <a:pPr marL="482600">
              <a:buSzPts val="2200"/>
            </a:pPr>
            <a:r>
              <a:rPr lang="en-US" dirty="0"/>
              <a:t>Verify signatures and provenance of all dependencies</a:t>
            </a:r>
          </a:p>
          <a:p>
            <a:r>
              <a:rPr lang="en-US" dirty="0"/>
              <a:t>Establish secure container configuration standards</a:t>
            </a:r>
          </a:p>
          <a:p>
            <a:r>
              <a:rPr lang="en-US" dirty="0"/>
              <a:t>Implement secrets management for cloud deployments</a:t>
            </a:r>
          </a:p>
          <a:p>
            <a:r>
              <a:rPr lang="en-US" dirty="0"/>
              <a:t>Enforce authentication, rate limiting, and input validation for all APIs</a:t>
            </a:r>
          </a:p>
          <a:p>
            <a:r>
              <a:rPr lang="en-US" dirty="0"/>
              <a:t>Implement API gateway with security controls</a:t>
            </a:r>
          </a:p>
          <a:p>
            <a:pPr marL="482600">
              <a:buSzPts val="2200"/>
            </a:pPr>
            <a:endParaRPr lang="en-US" dirty="0"/>
          </a:p>
        </p:txBody>
      </p:sp>
      <p:pic>
        <p:nvPicPr>
          <p:cNvPr id="232" name="Google Shape;232;p13"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Audio 2">
            <a:extLst>
              <a:ext uri="{FF2B5EF4-FFF2-40B4-BE49-F238E27FC236}">
                <a16:creationId xmlns:a16="http://schemas.microsoft.com/office/drawing/2014/main" id="{4FA89741-A15D-92D3-E50C-A4B43453DA27}"/>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2586"/>
    </mc:Choice>
    <mc:Fallback>
      <p:transition spd="slow" advTm="325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2002A-39C3-0924-247A-76036B1ECDF1}"/>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27EC9671-8BA5-AF05-98C8-556B5808B766}"/>
              </a:ext>
            </a:extLst>
          </p:cNvPr>
          <p:cNvSpPr>
            <a:spLocks noGrp="1"/>
          </p:cNvSpPr>
          <p:nvPr>
            <p:ph type="body" idx="1"/>
          </p:nvPr>
        </p:nvSpPr>
        <p:spPr/>
        <p:txBody>
          <a:bodyPr>
            <a:normAutofit fontScale="77500" lnSpcReduction="20000"/>
          </a:bodyPr>
          <a:lstStyle/>
          <a:p>
            <a:r>
              <a:rPr lang="en-US" dirty="0"/>
              <a:t>Clang Team. (2023). Clang Static Analyzer checkers. https://</a:t>
            </a:r>
            <a:r>
              <a:rPr lang="en-US" dirty="0" err="1"/>
              <a:t>clang.llvm.org</a:t>
            </a:r>
            <a:r>
              <a:rPr lang="en-US" dirty="0"/>
              <a:t>/docs/analyzer/</a:t>
            </a:r>
            <a:r>
              <a:rPr lang="en-US" dirty="0" err="1"/>
              <a:t>checkers.html</a:t>
            </a:r>
            <a:endParaRPr lang="en-US" dirty="0"/>
          </a:p>
          <a:p>
            <a:r>
              <a:rPr lang="en-US" dirty="0"/>
              <a:t>Coverity. (2023). Static application security testing (SAST). Synopsys. https://</a:t>
            </a:r>
            <a:r>
              <a:rPr lang="en-US" dirty="0" err="1"/>
              <a:t>www.synopsys.com</a:t>
            </a:r>
            <a:r>
              <a:rPr lang="en-US" dirty="0"/>
              <a:t>/software-integrity/security-testing/static-analysis-</a:t>
            </a:r>
            <a:r>
              <a:rPr lang="en-US" dirty="0" err="1"/>
              <a:t>sast.html</a:t>
            </a:r>
            <a:endParaRPr lang="en-US" dirty="0"/>
          </a:p>
          <a:p>
            <a:r>
              <a:rPr lang="en-US" dirty="0" err="1"/>
              <a:t>Cppcheck</a:t>
            </a:r>
            <a:r>
              <a:rPr lang="en-US" dirty="0"/>
              <a:t> Team. (2023). </a:t>
            </a:r>
            <a:r>
              <a:rPr lang="en-US" dirty="0" err="1"/>
              <a:t>Cppcheck</a:t>
            </a:r>
            <a:r>
              <a:rPr lang="en-US" dirty="0"/>
              <a:t> manual. https://</a:t>
            </a:r>
            <a:r>
              <a:rPr lang="en-US" dirty="0" err="1"/>
              <a:t>cppcheck.sourceforge.io</a:t>
            </a:r>
            <a:r>
              <a:rPr lang="en-US" dirty="0"/>
              <a:t>/</a:t>
            </a:r>
          </a:p>
          <a:p>
            <a:r>
              <a:rPr lang="en-US" dirty="0"/>
              <a:t>GitHub. (2023). </a:t>
            </a:r>
            <a:r>
              <a:rPr lang="en-US" dirty="0" err="1"/>
              <a:t>CodeQL</a:t>
            </a:r>
            <a:r>
              <a:rPr lang="en-US" dirty="0"/>
              <a:t> for C++. https://</a:t>
            </a:r>
            <a:r>
              <a:rPr lang="en-US" dirty="0" err="1"/>
              <a:t>codeql.github.com</a:t>
            </a:r>
            <a:r>
              <a:rPr lang="en-US" dirty="0"/>
              <a:t>/</a:t>
            </a:r>
            <a:r>
              <a:rPr lang="en-US" dirty="0" err="1"/>
              <a:t>codeql</a:t>
            </a:r>
            <a:r>
              <a:rPr lang="en-US" dirty="0"/>
              <a:t>-query-help/</a:t>
            </a:r>
            <a:r>
              <a:rPr lang="en-US" dirty="0" err="1"/>
              <a:t>cpp</a:t>
            </a:r>
            <a:r>
              <a:rPr lang="en-US" dirty="0"/>
              <a:t>/</a:t>
            </a:r>
          </a:p>
          <a:p>
            <a:r>
              <a:rPr lang="en-US" dirty="0"/>
              <a:t>Micro Focus. (2023). Fortify static code analyzer. https://</a:t>
            </a:r>
            <a:r>
              <a:rPr lang="en-US" dirty="0" err="1"/>
              <a:t>www.microfocus.com</a:t>
            </a:r>
            <a:r>
              <a:rPr lang="en-US" dirty="0"/>
              <a:t>/</a:t>
            </a:r>
            <a:r>
              <a:rPr lang="en-US" dirty="0" err="1"/>
              <a:t>en</a:t>
            </a:r>
            <a:r>
              <a:rPr lang="en-US" dirty="0"/>
              <a:t>-us/</a:t>
            </a:r>
            <a:r>
              <a:rPr lang="en-US" dirty="0" err="1"/>
              <a:t>cyberres</a:t>
            </a:r>
            <a:r>
              <a:rPr lang="en-US" dirty="0"/>
              <a:t>/application-security/static-code-analyzer</a:t>
            </a:r>
          </a:p>
          <a:p>
            <a:r>
              <a:rPr lang="en-US" dirty="0"/>
              <a:t>OWASP Foundation. (2021). OWASP Top 10 - 2021. https://</a:t>
            </a:r>
            <a:r>
              <a:rPr lang="en-US" dirty="0" err="1"/>
              <a:t>owasp.org</a:t>
            </a:r>
            <a:r>
              <a:rPr lang="en-US" dirty="0"/>
              <a:t>/Top10/</a:t>
            </a:r>
          </a:p>
          <a:p>
            <a:r>
              <a:rPr lang="en-US" dirty="0"/>
              <a:t>PVS-Studio. (2023). PVS-Studio static analyzer documentation. https://</a:t>
            </a:r>
            <a:r>
              <a:rPr lang="en-US" dirty="0" err="1"/>
              <a:t>pvs-studio.com</a:t>
            </a:r>
            <a:r>
              <a:rPr lang="en-US" dirty="0"/>
              <a:t>/</a:t>
            </a:r>
            <a:r>
              <a:rPr lang="en-US" dirty="0" err="1"/>
              <a:t>en</a:t>
            </a:r>
            <a:r>
              <a:rPr lang="en-US" dirty="0"/>
              <a:t>/docs/</a:t>
            </a:r>
          </a:p>
          <a:p>
            <a:r>
              <a:rPr lang="en-US" dirty="0" err="1"/>
              <a:t>SonarSource</a:t>
            </a:r>
            <a:r>
              <a:rPr lang="en-US" dirty="0"/>
              <a:t>. (2023). SonarQube C++ rules. https://</a:t>
            </a:r>
            <a:r>
              <a:rPr lang="en-US" dirty="0" err="1"/>
              <a:t>rules.sonarsource.com</a:t>
            </a:r>
            <a:r>
              <a:rPr lang="en-US" dirty="0"/>
              <a:t>/</a:t>
            </a:r>
            <a:r>
              <a:rPr lang="en-US" dirty="0" err="1"/>
              <a:t>cpp</a:t>
            </a:r>
            <a:r>
              <a:rPr lang="en-US" dirty="0"/>
              <a:t>/</a:t>
            </a:r>
          </a:p>
          <a:p>
            <a:r>
              <a:rPr lang="en-US" dirty="0"/>
              <a:t>The LLVM Project. (2023). </a:t>
            </a:r>
            <a:r>
              <a:rPr lang="en-US" dirty="0" err="1"/>
              <a:t>AddressSanitizer</a:t>
            </a:r>
            <a:r>
              <a:rPr lang="en-US" dirty="0"/>
              <a:t>. https://</a:t>
            </a:r>
            <a:r>
              <a:rPr lang="en-US" dirty="0" err="1"/>
              <a:t>clang.llvm.org</a:t>
            </a:r>
            <a:r>
              <a:rPr lang="en-US" dirty="0"/>
              <a:t>/docs/</a:t>
            </a:r>
            <a:r>
              <a:rPr lang="en-US" dirty="0" err="1"/>
              <a:t>AddressSanitizer.html</a:t>
            </a:r>
            <a:endParaRPr lang="en-US" dirty="0"/>
          </a:p>
          <a:p>
            <a:r>
              <a:rPr lang="en-US" dirty="0" err="1"/>
              <a:t>Valgrind</a:t>
            </a:r>
            <a:r>
              <a:rPr lang="en-US" dirty="0"/>
              <a:t> Developers. (2023). </a:t>
            </a:r>
            <a:r>
              <a:rPr lang="en-US" dirty="0" err="1"/>
              <a:t>Valgrind</a:t>
            </a:r>
            <a:r>
              <a:rPr lang="en-US" dirty="0"/>
              <a:t> </a:t>
            </a:r>
            <a:r>
              <a:rPr lang="en-US" dirty="0" err="1"/>
              <a:t>Memcheck</a:t>
            </a:r>
            <a:r>
              <a:rPr lang="en-US" dirty="0"/>
              <a:t> manual. https://</a:t>
            </a:r>
            <a:r>
              <a:rPr lang="en-US" dirty="0" err="1"/>
              <a:t>valgrind.org</a:t>
            </a:r>
            <a:r>
              <a:rPr lang="en-US" dirty="0"/>
              <a:t>/docs/manual/mc-</a:t>
            </a:r>
            <a:r>
              <a:rPr lang="en-US" dirty="0" err="1"/>
              <a:t>manual.html</a:t>
            </a:r>
            <a:endParaRPr lang="en-US" dirty="0"/>
          </a:p>
        </p:txBody>
      </p:sp>
      <p:pic>
        <p:nvPicPr>
          <p:cNvPr id="5" name="Audio 4">
            <a:extLst>
              <a:ext uri="{FF2B5EF4-FFF2-40B4-BE49-F238E27FC236}">
                <a16:creationId xmlns:a16="http://schemas.microsoft.com/office/drawing/2014/main" id="{37769E7A-D826-7FCC-46FB-9E045C31CF4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607050509"/>
      </p:ext>
    </p:extLst>
  </p:cSld>
  <p:clrMapOvr>
    <a:masterClrMapping/>
  </p:clrMapOvr>
  <mc:AlternateContent xmlns:mc="http://schemas.openxmlformats.org/markup-compatibility/2006">
    <mc:Choice xmlns:p14="http://schemas.microsoft.com/office/powerpoint/2010/main" Requires="p14">
      <p:transition spd="slow" p14:dur="2000" advTm="14517"/>
    </mc:Choice>
    <mc:Fallback>
      <p:transition spd="slow" advTm="145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332</TotalTime>
  <Words>3172</Words>
  <Application>Microsoft Macintosh PowerPoint</Application>
  <PresentationFormat>Widescreen</PresentationFormat>
  <Paragraphs>216</Paragraphs>
  <Slides>20</Slides>
  <Notes>20</Notes>
  <HiddenSlides>0</HiddenSlides>
  <MMClips>20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Does Safe String Copy Prevent Buffer Overflow? (STD-003-CPP)</vt:lpstr>
      <vt:lpstr>Does Input Validation Block Path Traversal Attacks? (STD- 008-CPP)</vt:lpstr>
      <vt:lpstr>Does Pre-Calculation Validation Detect Integer Overflow?  (STD-009-CPP)</vt:lpstr>
      <vt:lpstr>Are Null Pointers Caught Before Dereferencing? (STD-010-CPP)</vt:lpstr>
      <vt:lpstr>Does Range Validation Prevent Out-of-Bounds Access? (STD-002-CPP)</vt:lpstr>
      <vt:lpstr>Do Multiple Security Standards Work Together? (STD-008-CPP, STD-009-CPP, STD-010-CPP)</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Riggs, Nate</cp:lastModifiedBy>
  <cp:revision>23</cp:revision>
  <dcterms:created xsi:type="dcterms:W3CDTF">2020-08-19T17:59:24Z</dcterms:created>
  <dcterms:modified xsi:type="dcterms:W3CDTF">2026-02-21T21:18:06Z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